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23"/>
  </p:handoutMasterIdLst>
  <p:sldIdLst>
    <p:sldId id="256" r:id="rId4"/>
    <p:sldId id="257" r:id="rId6"/>
    <p:sldId id="258" r:id="rId7"/>
    <p:sldId id="259" r:id="rId8"/>
    <p:sldId id="268" r:id="rId9"/>
    <p:sldId id="260" r:id="rId10"/>
    <p:sldId id="269" r:id="rId11"/>
    <p:sldId id="261" r:id="rId12"/>
    <p:sldId id="262" r:id="rId13"/>
    <p:sldId id="275" r:id="rId14"/>
    <p:sldId id="276" r:id="rId15"/>
    <p:sldId id="263" r:id="rId16"/>
    <p:sldId id="273" r:id="rId17"/>
    <p:sldId id="274" r:id="rId18"/>
    <p:sldId id="264" r:id="rId19"/>
    <p:sldId id="265" r:id="rId20"/>
    <p:sldId id="266" r:id="rId21"/>
    <p:sldId id="267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1" Type="http://schemas.openxmlformats.org/officeDocument/2006/relationships/notesSlide" Target="../notesSlides/notesSlide3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2.xml"/><Relationship Id="rId29" Type="http://schemas.openxmlformats.org/officeDocument/2006/relationships/tags" Target="../tags/tag24.xml"/><Relationship Id="rId28" Type="http://schemas.openxmlformats.org/officeDocument/2006/relationships/tags" Target="../tags/tag23.xml"/><Relationship Id="rId27" Type="http://schemas.openxmlformats.org/officeDocument/2006/relationships/image" Target="../media/image11.png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image" Target="../media/image10.png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image" Target="../media/image9.png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4" Type="http://schemas.openxmlformats.org/officeDocument/2006/relationships/notesSlide" Target="../notesSlides/notesSlide4.xml"/><Relationship Id="rId33" Type="http://schemas.openxmlformats.org/officeDocument/2006/relationships/slideLayout" Target="../slideLayouts/slideLayout1.xml"/><Relationship Id="rId32" Type="http://schemas.openxmlformats.org/officeDocument/2006/relationships/tags" Target="../tags/tag52.xml"/><Relationship Id="rId31" Type="http://schemas.openxmlformats.org/officeDocument/2006/relationships/tags" Target="../tags/tag51.xml"/><Relationship Id="rId30" Type="http://schemas.openxmlformats.org/officeDocument/2006/relationships/image" Target="../media/image14.png"/><Relationship Id="rId3" Type="http://schemas.openxmlformats.org/officeDocument/2006/relationships/tags" Target="../tags/tag26.xml"/><Relationship Id="rId29" Type="http://schemas.openxmlformats.org/officeDocument/2006/relationships/tags" Target="../tags/tag50.xml"/><Relationship Id="rId28" Type="http://schemas.openxmlformats.org/officeDocument/2006/relationships/tags" Target="../tags/tag49.xml"/><Relationship Id="rId27" Type="http://schemas.openxmlformats.org/officeDocument/2006/relationships/tags" Target="../tags/tag48.xml"/><Relationship Id="rId26" Type="http://schemas.openxmlformats.org/officeDocument/2006/relationships/image" Target="../media/image13.png"/><Relationship Id="rId25" Type="http://schemas.openxmlformats.org/officeDocument/2006/relationships/tags" Target="../tags/tag47.xml"/><Relationship Id="rId24" Type="http://schemas.openxmlformats.org/officeDocument/2006/relationships/tags" Target="../tags/tag46.xml"/><Relationship Id="rId23" Type="http://schemas.openxmlformats.org/officeDocument/2006/relationships/tags" Target="../tags/tag45.xml"/><Relationship Id="rId22" Type="http://schemas.openxmlformats.org/officeDocument/2006/relationships/image" Target="../media/image12.png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tags" Target="../tags/tag25.xml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5" Type="http://schemas.openxmlformats.org/officeDocument/2006/relationships/notesSlide" Target="../notesSlides/notesSlide5.xml"/><Relationship Id="rId34" Type="http://schemas.openxmlformats.org/officeDocument/2006/relationships/slideLayout" Target="../slideLayouts/slideLayout2.xml"/><Relationship Id="rId33" Type="http://schemas.openxmlformats.org/officeDocument/2006/relationships/image" Target="../media/image15.png"/><Relationship Id="rId32" Type="http://schemas.openxmlformats.org/officeDocument/2006/relationships/tags" Target="../tags/tag80.xml"/><Relationship Id="rId31" Type="http://schemas.openxmlformats.org/officeDocument/2006/relationships/tags" Target="../tags/tag79.xml"/><Relationship Id="rId30" Type="http://schemas.openxmlformats.org/officeDocument/2006/relationships/image" Target="../media/image14.png"/><Relationship Id="rId3" Type="http://schemas.openxmlformats.org/officeDocument/2006/relationships/tags" Target="../tags/tag54.xml"/><Relationship Id="rId29" Type="http://schemas.openxmlformats.org/officeDocument/2006/relationships/tags" Target="../tags/tag78.xml"/><Relationship Id="rId28" Type="http://schemas.openxmlformats.org/officeDocument/2006/relationships/tags" Target="../tags/tag77.xml"/><Relationship Id="rId27" Type="http://schemas.openxmlformats.org/officeDocument/2006/relationships/tags" Target="../tags/tag76.xml"/><Relationship Id="rId26" Type="http://schemas.openxmlformats.org/officeDocument/2006/relationships/image" Target="../media/image13.png"/><Relationship Id="rId25" Type="http://schemas.openxmlformats.org/officeDocument/2006/relationships/tags" Target="../tags/tag75.xml"/><Relationship Id="rId24" Type="http://schemas.openxmlformats.org/officeDocument/2006/relationships/tags" Target="../tags/tag74.xml"/><Relationship Id="rId23" Type="http://schemas.openxmlformats.org/officeDocument/2006/relationships/tags" Target="../tags/tag73.xml"/><Relationship Id="rId22" Type="http://schemas.openxmlformats.org/officeDocument/2006/relationships/image" Target="../media/image12.png"/><Relationship Id="rId21" Type="http://schemas.openxmlformats.org/officeDocument/2006/relationships/tags" Target="../tags/tag72.xml"/><Relationship Id="rId20" Type="http://schemas.openxmlformats.org/officeDocument/2006/relationships/tags" Target="../tags/tag71.xml"/><Relationship Id="rId2" Type="http://schemas.openxmlformats.org/officeDocument/2006/relationships/tags" Target="../tags/tag53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2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8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image" Target="../media/image39.png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7" Type="http://schemas.openxmlformats.org/officeDocument/2006/relationships/notesSlide" Target="../notesSlides/notesSlide15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100.xml"/><Relationship Id="rId24" Type="http://schemas.openxmlformats.org/officeDocument/2006/relationships/tags" Target="../tags/tag99.xml"/><Relationship Id="rId23" Type="http://schemas.openxmlformats.org/officeDocument/2006/relationships/image" Target="../media/image42.png"/><Relationship Id="rId22" Type="http://schemas.openxmlformats.org/officeDocument/2006/relationships/tags" Target="../tags/tag98.xml"/><Relationship Id="rId21" Type="http://schemas.openxmlformats.org/officeDocument/2006/relationships/tags" Target="../tags/tag97.xml"/><Relationship Id="rId20" Type="http://schemas.openxmlformats.org/officeDocument/2006/relationships/tags" Target="../tags/tag96.xml"/><Relationship Id="rId2" Type="http://schemas.openxmlformats.org/officeDocument/2006/relationships/tags" Target="../tags/tag81.xml"/><Relationship Id="rId19" Type="http://schemas.openxmlformats.org/officeDocument/2006/relationships/tags" Target="../tags/tag95.xml"/><Relationship Id="rId18" Type="http://schemas.openxmlformats.org/officeDocument/2006/relationships/tags" Target="../tags/tag94.xml"/><Relationship Id="rId17" Type="http://schemas.openxmlformats.org/officeDocument/2006/relationships/image" Target="../media/image41.png"/><Relationship Id="rId16" Type="http://schemas.openxmlformats.org/officeDocument/2006/relationships/tags" Target="../tags/tag93.xml"/><Relationship Id="rId15" Type="http://schemas.openxmlformats.org/officeDocument/2006/relationships/tags" Target="../tags/tag92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image" Target="../media/image40.png"/><Relationship Id="rId10" Type="http://schemas.openxmlformats.org/officeDocument/2006/relationships/tags" Target="../tags/tag88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image" Target="../media/image48.png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image" Target="../media/image47.png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9" Type="http://schemas.openxmlformats.org/officeDocument/2006/relationships/notesSlide" Target="../notesSlides/notesSlide17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12.xml"/><Relationship Id="rId16" Type="http://schemas.openxmlformats.org/officeDocument/2006/relationships/image" Target="../media/image50.png"/><Relationship Id="rId15" Type="http://schemas.openxmlformats.org/officeDocument/2006/relationships/tags" Target="../tags/tag111.xml"/><Relationship Id="rId14" Type="http://schemas.openxmlformats.org/officeDocument/2006/relationships/tags" Target="../tags/tag110.xml"/><Relationship Id="rId13" Type="http://schemas.openxmlformats.org/officeDocument/2006/relationships/tags" Target="../tags/tag109.xml"/><Relationship Id="rId12" Type="http://schemas.openxmlformats.org/officeDocument/2006/relationships/image" Target="../media/image49.png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0125" y="679382"/>
            <a:ext cx="7143750" cy="3784736"/>
          </a:xfrm>
          <a:prstGeom prst="rect">
            <a:avLst/>
          </a:prstGeom>
          <a:solidFill>
            <a:srgbClr val="F5F5DC">
              <a:alpha val="8000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1000125" y="679382"/>
            <a:ext cx="7143750" cy="5715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1428750" y="1136582"/>
            <a:ext cx="6286500" cy="4483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65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基于单</a:t>
            </a:r>
            <a:r>
              <a:rPr lang="en-US" sz="2600" b="1" dirty="0">
                <a:solidFill>
                  <a:srgbClr val="2C3E50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视角</a:t>
            </a:r>
            <a:r>
              <a:rPr lang="en-US" sz="265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图像的草莓</a:t>
            </a:r>
            <a:r>
              <a:rPr lang="en-US" sz="2600" b="1" dirty="0">
                <a:solidFill>
                  <a:srgbClr val="2C3E50"/>
                </a:solidFill>
                <a:uFillTx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3D</a:t>
            </a:r>
            <a:r>
              <a:rPr lang="en-US" sz="265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位姿和尺寸估计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428750" y="2142399"/>
            <a:ext cx="6286500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00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中期答辩汇报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071688" y="2828199"/>
            <a:ext cx="71437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汇报人：</a:t>
            </a:r>
            <a:endParaRPr lang="en-US" sz="985" dirty="0"/>
          </a:p>
        </p:txBody>
      </p:sp>
      <p:sp>
        <p:nvSpPr>
          <p:cNvPr id="8" name="Text 5"/>
          <p:cNvSpPr/>
          <p:nvPr/>
        </p:nvSpPr>
        <p:spPr>
          <a:xfrm>
            <a:off x="2786063" y="2828199"/>
            <a:ext cx="42862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陈斌斌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657725" y="2828199"/>
            <a:ext cx="71437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学号：</a:t>
            </a:r>
            <a:endParaRPr lang="en-US" sz="985" dirty="0"/>
          </a:p>
        </p:txBody>
      </p:sp>
      <p:sp>
        <p:nvSpPr>
          <p:cNvPr id="10" name="Text 7"/>
          <p:cNvSpPr/>
          <p:nvPr/>
        </p:nvSpPr>
        <p:spPr>
          <a:xfrm>
            <a:off x="5372100" y="2828199"/>
            <a:ext cx="1067991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2022308250212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071688" y="3278256"/>
            <a:ext cx="71437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学院专业：</a:t>
            </a:r>
            <a:endParaRPr lang="en-US" sz="985" dirty="0"/>
          </a:p>
        </p:txBody>
      </p:sp>
      <p:sp>
        <p:nvSpPr>
          <p:cNvPr id="12" name="Text 9"/>
          <p:cNvSpPr/>
          <p:nvPr/>
        </p:nvSpPr>
        <p:spPr>
          <a:xfrm>
            <a:off x="2786063" y="3278256"/>
            <a:ext cx="1126927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信电学院 / 计算机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57725" y="3278256"/>
            <a:ext cx="71437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指导教师：</a:t>
            </a:r>
            <a:endParaRPr lang="en-US" sz="985" dirty="0"/>
          </a:p>
        </p:txBody>
      </p:sp>
      <p:sp>
        <p:nvSpPr>
          <p:cNvPr id="14" name="Text 11"/>
          <p:cNvSpPr/>
          <p:nvPr/>
        </p:nvSpPr>
        <p:spPr>
          <a:xfrm>
            <a:off x="5372100" y="3278256"/>
            <a:ext cx="285750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王晨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071688" y="3728312"/>
            <a:ext cx="71437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日期：</a:t>
            </a:r>
            <a:endParaRPr lang="en-US" sz="985" dirty="0"/>
          </a:p>
        </p:txBody>
      </p:sp>
      <p:sp>
        <p:nvSpPr>
          <p:cNvPr id="16" name="Text 13"/>
          <p:cNvSpPr/>
          <p:nvPr/>
        </p:nvSpPr>
        <p:spPr>
          <a:xfrm>
            <a:off x="2786063" y="3728312"/>
            <a:ext cx="696516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2026年4月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85825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1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课题背景与科学挑战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571500" y="1171575"/>
            <a:ext cx="3786188" cy="480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智慧农业采摘机器人对环境感知的实时性与精度要求极高，是实现全自动精准作业的核心前提。</a:t>
            </a:r>
            <a:endParaRPr lang="en-US" sz="1195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60556"/>
            <a:ext cx="250031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2975" y="1794477"/>
            <a:ext cx="3414713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研究背景</a:t>
            </a:r>
            <a:endParaRPr lang="en-US" sz="985" dirty="0"/>
          </a:p>
        </p:txBody>
      </p:sp>
      <p:sp>
        <p:nvSpPr>
          <p:cNvPr id="9" name="Text 5"/>
          <p:cNvSpPr/>
          <p:nvPr/>
        </p:nvSpPr>
        <p:spPr>
          <a:xfrm>
            <a:off x="942975" y="2046294"/>
            <a:ext cx="3286125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在非结构化农场环境中，机器人需要快速识别并定位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42975" y="2260606"/>
            <a:ext cx="1614488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目标草莓的3D空间位姿。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41" y="2617794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42082" y="2551714"/>
            <a:ext cx="341560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实时性需求</a:t>
            </a:r>
            <a:endParaRPr lang="en-US" sz="985" dirty="0"/>
          </a:p>
        </p:txBody>
      </p:sp>
      <p:sp>
        <p:nvSpPr>
          <p:cNvPr id="13" name="Text 8"/>
          <p:cNvSpPr/>
          <p:nvPr/>
        </p:nvSpPr>
        <p:spPr>
          <a:xfrm>
            <a:off x="942082" y="2803531"/>
            <a:ext cx="3143250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采摘动作的连贯性要求感知算法具备极低的推理延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942082" y="3017844"/>
            <a:ext cx="285750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迟。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1237655"/>
            <a:ext cx="250031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57788" y="1171575"/>
            <a:ext cx="3414713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核心痛点 1：遮挡严重</a:t>
            </a:r>
            <a:endParaRPr lang="en-US" sz="985" dirty="0"/>
          </a:p>
        </p:txBody>
      </p:sp>
      <p:sp>
        <p:nvSpPr>
          <p:cNvPr id="17" name="Text 11"/>
          <p:cNvSpPr/>
          <p:nvPr/>
        </p:nvSpPr>
        <p:spPr>
          <a:xfrm>
            <a:off x="5157788" y="1423392"/>
            <a:ext cx="3286125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密集簇生环境导致草莓关键点缺失，传统几何方法难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5157788" y="1637705"/>
            <a:ext cx="857250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以稳定收敛。</a:t>
            </a:r>
            <a:endParaRPr lang="en-US" sz="10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994892"/>
            <a:ext cx="200025" cy="2000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29213" y="1928813"/>
            <a:ext cx="3443288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核心痛点 2：光照剧烈</a:t>
            </a:r>
            <a:endParaRPr lang="en-US" sz="985" dirty="0"/>
          </a:p>
        </p:txBody>
      </p:sp>
      <p:sp>
        <p:nvSpPr>
          <p:cNvPr id="21" name="Text 14"/>
          <p:cNvSpPr/>
          <p:nvPr/>
        </p:nvSpPr>
        <p:spPr>
          <a:xfrm>
            <a:off x="5129213" y="2180630"/>
            <a:ext cx="3429000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自然场景下的逆光、阴影干扰，严重削弱了图像特征的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5129213" y="2394942"/>
            <a:ext cx="571500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鲁棒性。</a:t>
            </a:r>
            <a:endParaRPr lang="en-US" sz="10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2752130"/>
            <a:ext cx="200025" cy="20002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29213" y="2686050"/>
            <a:ext cx="3443288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核心痛点 3：几何限制</a:t>
            </a:r>
            <a:endParaRPr lang="en-US" sz="985" dirty="0"/>
          </a:p>
        </p:txBody>
      </p:sp>
      <p:sp>
        <p:nvSpPr>
          <p:cNvPr id="25" name="Text 17"/>
          <p:cNvSpPr/>
          <p:nvPr/>
        </p:nvSpPr>
        <p:spPr>
          <a:xfrm>
            <a:off x="5129213" y="2937867"/>
            <a:ext cx="3403997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单目视觉固有的深度信息缺失（Depth Ambiguity）是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5129213" y="3152180"/>
            <a:ext cx="1328738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3D重建的主要障碍。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4786313" y="3586163"/>
            <a:ext cx="3786188" cy="685800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28" name="Shape 20"/>
          <p:cNvSpPr/>
          <p:nvPr/>
        </p:nvSpPr>
        <p:spPr>
          <a:xfrm>
            <a:off x="4786313" y="3586163"/>
            <a:ext cx="42863" cy="68580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9" name="Text 21"/>
          <p:cNvSpPr/>
          <p:nvPr/>
        </p:nvSpPr>
        <p:spPr>
          <a:xfrm>
            <a:off x="4786313" y="3586163"/>
            <a:ext cx="3786188" cy="685800"/>
          </a:xfrm>
          <a:prstGeom prst="rect">
            <a:avLst/>
          </a:prstGeom>
          <a:noFill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"单目视觉的挑战在于如何从二维投影中恢复丢失的深度维度，这需要强大的先验知识与几何约束的深度融合。"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14388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48577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1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单阶段网格回归架构设计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571500" y="1028700"/>
            <a:ext cx="720090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6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本研究摒弃了传统 Two-stage 架构的高延迟，通过单阶段端到端回归实现“预测即检测”，显著提升了感知系统的实时响应能力。</a:t>
            </a:r>
            <a:endParaRPr lang="en-US" sz="1160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571500" y="1750219"/>
            <a:ext cx="3893344" cy="10858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571500" y="1750219"/>
            <a:ext cx="3893344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9" name="Shape 6"/>
          <p:cNvSpPr/>
          <p:nvPr>
            <p:custDataLst>
              <p:tags r:id="rId4"/>
            </p:custDataLst>
          </p:nvPr>
        </p:nvSpPr>
        <p:spPr>
          <a:xfrm>
            <a:off x="742950" y="1921669"/>
            <a:ext cx="428625" cy="428625"/>
          </a:xfrm>
          <a:prstGeom prst="ellipse">
            <a:avLst/>
          </a:prstGeom>
          <a:solidFill>
            <a:srgbClr val="5DADE2"/>
          </a:solidFill>
        </p:spPr>
      </p:sp>
      <p:pic>
        <p:nvPicPr>
          <p:cNvPr id="10" name="Image 1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44748" y="2035969"/>
            <a:ext cx="225028" cy="200025"/>
          </a:xfrm>
          <a:prstGeom prst="rect">
            <a:avLst/>
          </a:prstGeom>
        </p:spPr>
      </p:pic>
      <p:sp>
        <p:nvSpPr>
          <p:cNvPr id="11" name="Text 7"/>
          <p:cNvSpPr/>
          <p:nvPr>
            <p:custDataLst>
              <p:tags r:id="rId7"/>
            </p:custDataLst>
          </p:nvPr>
        </p:nvSpPr>
        <p:spPr>
          <a:xfrm>
            <a:off x="1314450" y="1921669"/>
            <a:ext cx="2978944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设计思路</a:t>
            </a:r>
            <a:endParaRPr lang="en-US" sz="1195" dirty="0"/>
          </a:p>
        </p:txBody>
      </p:sp>
      <p:sp>
        <p:nvSpPr>
          <p:cNvPr id="12" name="Text 8"/>
          <p:cNvSpPr/>
          <p:nvPr>
            <p:custDataLst>
              <p:tags r:id="rId8"/>
            </p:custDataLst>
          </p:nvPr>
        </p:nvSpPr>
        <p:spPr>
          <a:xfrm>
            <a:off x="1314450" y="2250281"/>
            <a:ext cx="2978944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采用端到端回归策略，直接从图像特征映射到位姿参数，避免了候选框生成的计算开销。</a:t>
            </a:r>
            <a:endParaRPr lang="en-US" sz="940" dirty="0"/>
          </a:p>
        </p:txBody>
      </p:sp>
      <p:sp>
        <p:nvSpPr>
          <p:cNvPr id="13" name="Shape 9"/>
          <p:cNvSpPr/>
          <p:nvPr>
            <p:custDataLst>
              <p:tags r:id="rId9"/>
            </p:custDataLst>
          </p:nvPr>
        </p:nvSpPr>
        <p:spPr>
          <a:xfrm>
            <a:off x="4679156" y="1750219"/>
            <a:ext cx="3893344" cy="10858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Shape 10"/>
          <p:cNvSpPr/>
          <p:nvPr>
            <p:custDataLst>
              <p:tags r:id="rId10"/>
            </p:custDataLst>
          </p:nvPr>
        </p:nvSpPr>
        <p:spPr>
          <a:xfrm>
            <a:off x="4679156" y="1750219"/>
            <a:ext cx="3893344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5" name="Shape 11"/>
          <p:cNvSpPr/>
          <p:nvPr>
            <p:custDataLst>
              <p:tags r:id="rId11"/>
            </p:custDataLst>
          </p:nvPr>
        </p:nvSpPr>
        <p:spPr>
          <a:xfrm>
            <a:off x="4850606" y="1921669"/>
            <a:ext cx="428625" cy="428625"/>
          </a:xfrm>
          <a:prstGeom prst="ellipse">
            <a:avLst/>
          </a:prstGeom>
          <a:solidFill>
            <a:srgbClr val="5DADE2"/>
          </a:solidFill>
        </p:spPr>
      </p:sp>
      <p:pic>
        <p:nvPicPr>
          <p:cNvPr id="16" name="Image 2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977408" y="2035969"/>
            <a:ext cx="175022" cy="200025"/>
          </a:xfrm>
          <a:prstGeom prst="rect">
            <a:avLst/>
          </a:prstGeom>
        </p:spPr>
      </p:pic>
      <p:sp>
        <p:nvSpPr>
          <p:cNvPr id="17" name="Text 12"/>
          <p:cNvSpPr/>
          <p:nvPr>
            <p:custDataLst>
              <p:tags r:id="rId14"/>
            </p:custDataLst>
          </p:nvPr>
        </p:nvSpPr>
        <p:spPr>
          <a:xfrm>
            <a:off x="5422106" y="1921669"/>
            <a:ext cx="2978944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输入分辨率</a:t>
            </a:r>
            <a:endParaRPr lang="en-US" sz="1195" dirty="0"/>
          </a:p>
        </p:txBody>
      </p:sp>
      <p:sp>
        <p:nvSpPr>
          <p:cNvPr id="18" name="Text 13"/>
          <p:cNvSpPr/>
          <p:nvPr>
            <p:custDataLst>
              <p:tags r:id="rId15"/>
            </p:custDataLst>
          </p:nvPr>
        </p:nvSpPr>
        <p:spPr>
          <a:xfrm>
            <a:off x="5422106" y="2250281"/>
            <a:ext cx="2978944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统一采用</a:t>
            </a:r>
            <a:r>
              <a:rPr lang="en-US" altLang="zh-CN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800</a:t>
            </a:r>
            <a:r>
              <a:rPr lang="en-US" alt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600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高分辨率输入，确保在复杂背景下仍能保留草莓的边缘与纹理细节。</a:t>
            </a:r>
            <a:endParaRPr lang="en-US" sz="940" dirty="0"/>
          </a:p>
        </p:txBody>
      </p:sp>
      <p:sp>
        <p:nvSpPr>
          <p:cNvPr id="19" name="Shape 14"/>
          <p:cNvSpPr/>
          <p:nvPr>
            <p:custDataLst>
              <p:tags r:id="rId16"/>
            </p:custDataLst>
          </p:nvPr>
        </p:nvSpPr>
        <p:spPr>
          <a:xfrm>
            <a:off x="571500" y="3021806"/>
            <a:ext cx="3893344" cy="10858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Shape 15"/>
          <p:cNvSpPr/>
          <p:nvPr>
            <p:custDataLst>
              <p:tags r:id="rId17"/>
            </p:custDataLst>
          </p:nvPr>
        </p:nvSpPr>
        <p:spPr>
          <a:xfrm>
            <a:off x="571500" y="3021806"/>
            <a:ext cx="3893344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1" name="Shape 16"/>
          <p:cNvSpPr/>
          <p:nvPr>
            <p:custDataLst>
              <p:tags r:id="rId18"/>
            </p:custDataLst>
          </p:nvPr>
        </p:nvSpPr>
        <p:spPr>
          <a:xfrm>
            <a:off x="742950" y="3193256"/>
            <a:ext cx="428625" cy="428625"/>
          </a:xfrm>
          <a:prstGeom prst="ellipse">
            <a:avLst/>
          </a:prstGeom>
          <a:solidFill>
            <a:srgbClr val="5DADE2"/>
          </a:solidFill>
        </p:spPr>
      </p:sp>
      <p:pic>
        <p:nvPicPr>
          <p:cNvPr id="22" name="Image 3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857250" y="3307556"/>
            <a:ext cx="200025" cy="200025"/>
          </a:xfrm>
          <a:prstGeom prst="rect">
            <a:avLst/>
          </a:prstGeom>
        </p:spPr>
      </p:pic>
      <p:sp>
        <p:nvSpPr>
          <p:cNvPr id="23" name="Text 17"/>
          <p:cNvSpPr/>
          <p:nvPr>
            <p:custDataLst>
              <p:tags r:id="rId21"/>
            </p:custDataLst>
          </p:nvPr>
        </p:nvSpPr>
        <p:spPr>
          <a:xfrm>
            <a:off x="1314450" y="3193256"/>
            <a:ext cx="2978944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下采样策略</a:t>
            </a:r>
            <a:endParaRPr lang="en-US" sz="1195" dirty="0"/>
          </a:p>
        </p:txBody>
      </p:sp>
      <p:sp>
        <p:nvSpPr>
          <p:cNvPr id="24" name="Text 18"/>
          <p:cNvSpPr/>
          <p:nvPr>
            <p:custDataLst>
              <p:tags r:id="rId22"/>
            </p:custDataLst>
          </p:nvPr>
        </p:nvSpPr>
        <p:spPr>
          <a:xfrm>
            <a:off x="1314450" y="3521869"/>
            <a:ext cx="2978944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执行 32 倍下采样特征映射，在保证足够感受野的同时，大幅降低了后续计算的复杂度。</a:t>
            </a:r>
            <a:endParaRPr lang="en-US" sz="940" dirty="0"/>
          </a:p>
        </p:txBody>
      </p:sp>
      <p:sp>
        <p:nvSpPr>
          <p:cNvPr id="25" name="Shape 19"/>
          <p:cNvSpPr/>
          <p:nvPr>
            <p:custDataLst>
              <p:tags r:id="rId23"/>
            </p:custDataLst>
          </p:nvPr>
        </p:nvSpPr>
        <p:spPr>
          <a:xfrm>
            <a:off x="4679156" y="3021806"/>
            <a:ext cx="3893344" cy="10858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Shape 20"/>
          <p:cNvSpPr/>
          <p:nvPr>
            <p:custDataLst>
              <p:tags r:id="rId24"/>
            </p:custDataLst>
          </p:nvPr>
        </p:nvSpPr>
        <p:spPr>
          <a:xfrm>
            <a:off x="4679156" y="3021806"/>
            <a:ext cx="3893344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7" name="Shape 21"/>
          <p:cNvSpPr/>
          <p:nvPr>
            <p:custDataLst>
              <p:tags r:id="rId25"/>
            </p:custDataLst>
          </p:nvPr>
        </p:nvSpPr>
        <p:spPr>
          <a:xfrm>
            <a:off x="4850606" y="3193256"/>
            <a:ext cx="428625" cy="428625"/>
          </a:xfrm>
          <a:prstGeom prst="ellipse">
            <a:avLst/>
          </a:prstGeom>
          <a:solidFill>
            <a:srgbClr val="5DADE2"/>
          </a:solidFill>
        </p:spPr>
      </p:sp>
      <p:pic>
        <p:nvPicPr>
          <p:cNvPr id="28" name="Image 4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4964906" y="3307556"/>
            <a:ext cx="200025" cy="200025"/>
          </a:xfrm>
          <a:prstGeom prst="rect">
            <a:avLst/>
          </a:prstGeom>
        </p:spPr>
      </p:pic>
      <p:sp>
        <p:nvSpPr>
          <p:cNvPr id="29" name="Text 22"/>
          <p:cNvSpPr/>
          <p:nvPr>
            <p:custDataLst>
              <p:tags r:id="rId28"/>
            </p:custDataLst>
          </p:nvPr>
        </p:nvSpPr>
        <p:spPr>
          <a:xfrm>
            <a:off x="5422106" y="3193256"/>
            <a:ext cx="2978944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特征网格划分</a:t>
            </a:r>
            <a:endParaRPr lang="en-US" sz="1195" dirty="0"/>
          </a:p>
        </p:txBody>
      </p:sp>
      <p:sp>
        <p:nvSpPr>
          <p:cNvPr id="30" name="Text 23"/>
          <p:cNvSpPr/>
          <p:nvPr>
            <p:custDataLst>
              <p:tags r:id="rId29"/>
            </p:custDataLst>
          </p:nvPr>
        </p:nvSpPr>
        <p:spPr>
          <a:xfrm>
            <a:off x="5422106" y="3521869"/>
            <a:ext cx="2978944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引入 </a:t>
            </a:r>
            <a:r>
              <a:rPr lang="en-US" altLang="zh-CN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18</a:t>
            </a:r>
            <a:r>
              <a:rPr lang="en-US" alt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25 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特征网格，精细化感知场覆盖，确保对不同位置和尺寸的目标均能精准捕捉。</a:t>
            </a:r>
            <a:endParaRPr lang="en-US" sz="9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85825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1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CNN-Transformer 混合驱动机制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571500" y="1201657"/>
            <a:ext cx="4543425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通过融合 CNN 的局部特征提取能力与 Transformer 的全局建模优势，构建具备长程空间依赖感知的特征提取网络。</a:t>
            </a:r>
            <a:endParaRPr lang="en-US" sz="1050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571500" y="1808876"/>
            <a:ext cx="228600" cy="228600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571500" y="1808876"/>
            <a:ext cx="228600" cy="2286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1</a:t>
            </a:r>
            <a:endParaRPr lang="en-US" sz="785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907256" y="1808876"/>
            <a:ext cx="4207669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Backbone: Darknet-19</a:t>
            </a:r>
            <a:endParaRPr lang="en-US" sz="1090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907256" y="2073194"/>
            <a:ext cx="4207669" cy="339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9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高效提取图像的局部纹理、边缘及初步语义特征，为后续处理提供高质量特征图。</a:t>
            </a:r>
            <a:endParaRPr lang="en-US" sz="890" dirty="0"/>
          </a:p>
        </p:txBody>
      </p:sp>
      <p:sp>
        <p:nvSpPr>
          <p:cNvPr id="11" name="Shape 8"/>
          <p:cNvSpPr/>
          <p:nvPr>
            <p:custDataLst>
              <p:tags r:id="rId6"/>
            </p:custDataLst>
          </p:nvPr>
        </p:nvSpPr>
        <p:spPr>
          <a:xfrm>
            <a:off x="571500" y="2541780"/>
            <a:ext cx="228600" cy="228600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571500" y="2541780"/>
            <a:ext cx="228600" cy="2286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2</a:t>
            </a:r>
            <a:endParaRPr lang="en-US" sz="785" dirty="0"/>
          </a:p>
        </p:txBody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907256" y="2541780"/>
            <a:ext cx="4207669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Neck: Transformer Encoder</a:t>
            </a:r>
            <a:endParaRPr lang="en-US" sz="1090" dirty="0"/>
          </a:p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907256" y="2806098"/>
            <a:ext cx="4207669" cy="339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9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在特征图上建立全局关联，利用未遮挡区域的上下文信息补全被遮挡目标的几何特征。</a:t>
            </a:r>
            <a:endParaRPr lang="en-US" sz="890" dirty="0"/>
          </a:p>
        </p:txBody>
      </p:sp>
      <p:sp>
        <p:nvSpPr>
          <p:cNvPr id="15" name="Shape 12"/>
          <p:cNvSpPr/>
          <p:nvPr>
            <p:custDataLst>
              <p:tags r:id="rId10"/>
            </p:custDataLst>
          </p:nvPr>
        </p:nvSpPr>
        <p:spPr>
          <a:xfrm>
            <a:off x="571500" y="3274684"/>
            <a:ext cx="228600" cy="228600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571500" y="3274684"/>
            <a:ext cx="228600" cy="2286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3</a:t>
            </a:r>
            <a:endParaRPr lang="en-US" sz="785" dirty="0"/>
          </a:p>
        </p:txBody>
      </p:sp>
      <p:sp>
        <p:nvSpPr>
          <p:cNvPr id="17" name="Text 14"/>
          <p:cNvSpPr/>
          <p:nvPr>
            <p:custDataLst>
              <p:tags r:id="rId12"/>
            </p:custDataLst>
          </p:nvPr>
        </p:nvSpPr>
        <p:spPr>
          <a:xfrm>
            <a:off x="907256" y="3274684"/>
            <a:ext cx="4207669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8头自注意力机制</a:t>
            </a:r>
            <a:endParaRPr lang="en-US" sz="1090" dirty="0"/>
          </a:p>
        </p:txBody>
      </p:sp>
      <p:sp>
        <p:nvSpPr>
          <p:cNvPr id="18" name="Text 15"/>
          <p:cNvSpPr/>
          <p:nvPr>
            <p:custDataLst>
              <p:tags r:id="rId13"/>
            </p:custDataLst>
          </p:nvPr>
        </p:nvSpPr>
        <p:spPr>
          <a:xfrm>
            <a:off x="907256" y="3539003"/>
            <a:ext cx="4207669" cy="339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9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Multi-Head Self-Attention 允许模型在多个子空间内并行学习空间依赖，增强特征表达。</a:t>
            </a:r>
            <a:endParaRPr lang="en-US" sz="890" dirty="0"/>
          </a:p>
        </p:txBody>
      </p:sp>
      <p:sp>
        <p:nvSpPr>
          <p:cNvPr id="19" name="Shape 16"/>
          <p:cNvSpPr/>
          <p:nvPr>
            <p:custDataLst>
              <p:tags r:id="rId14"/>
            </p:custDataLst>
          </p:nvPr>
        </p:nvSpPr>
        <p:spPr>
          <a:xfrm>
            <a:off x="571500" y="4007588"/>
            <a:ext cx="228600" cy="228600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20" name="Text 17"/>
          <p:cNvSpPr/>
          <p:nvPr>
            <p:custDataLst>
              <p:tags r:id="rId15"/>
            </p:custDataLst>
          </p:nvPr>
        </p:nvSpPr>
        <p:spPr>
          <a:xfrm>
            <a:off x="571500" y="4007588"/>
            <a:ext cx="228600" cy="2286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4</a:t>
            </a:r>
            <a:endParaRPr lang="en-US" sz="785" dirty="0"/>
          </a:p>
        </p:txBody>
      </p:sp>
      <p:sp>
        <p:nvSpPr>
          <p:cNvPr id="21" name="Text 18"/>
          <p:cNvSpPr/>
          <p:nvPr>
            <p:custDataLst>
              <p:tags r:id="rId16"/>
            </p:custDataLst>
          </p:nvPr>
        </p:nvSpPr>
        <p:spPr>
          <a:xfrm>
            <a:off x="907256" y="4007588"/>
            <a:ext cx="4129088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鲁棒性提升</a:t>
            </a:r>
            <a:endParaRPr lang="en-US" sz="1090" dirty="0"/>
          </a:p>
        </p:txBody>
      </p:sp>
      <p:sp>
        <p:nvSpPr>
          <p:cNvPr id="22" name="Text 19"/>
          <p:cNvSpPr/>
          <p:nvPr>
            <p:custDataLst>
              <p:tags r:id="rId17"/>
            </p:custDataLst>
          </p:nvPr>
        </p:nvSpPr>
        <p:spPr>
          <a:xfrm>
            <a:off x="907256" y="4271907"/>
            <a:ext cx="4129088" cy="1699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9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显著增强了模型在密集簇生、剧烈光照等非结构化场景下的几何感知稳定性。</a:t>
            </a:r>
            <a:endParaRPr lang="en-US" sz="890" dirty="0"/>
          </a:p>
        </p:txBody>
      </p:sp>
      <p:sp>
        <p:nvSpPr>
          <p:cNvPr id="23" name="Shape 20"/>
          <p:cNvSpPr/>
          <p:nvPr>
            <p:custDataLst>
              <p:tags r:id="rId18"/>
            </p:custDataLst>
          </p:nvPr>
        </p:nvSpPr>
        <p:spPr>
          <a:xfrm>
            <a:off x="5543550" y="1457325"/>
            <a:ext cx="3028950" cy="2857500"/>
          </a:xfrm>
          <a:prstGeom prst="rect">
            <a:avLst/>
          </a:prstGeom>
          <a:solidFill>
            <a:srgbClr val="FFFFFF"/>
          </a:solidFill>
          <a:ln w="18288">
            <a:solidFill>
              <a:srgbClr val="E67E22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24" name="Shape 21"/>
          <p:cNvSpPr/>
          <p:nvPr>
            <p:custDataLst>
              <p:tags r:id="rId19"/>
            </p:custDataLst>
          </p:nvPr>
        </p:nvSpPr>
        <p:spPr>
          <a:xfrm>
            <a:off x="5960734" y="1618562"/>
            <a:ext cx="2194554" cy="385763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25" name="Text 22"/>
          <p:cNvSpPr/>
          <p:nvPr>
            <p:custDataLst>
              <p:tags r:id="rId20"/>
            </p:custDataLst>
          </p:nvPr>
        </p:nvSpPr>
        <p:spPr>
          <a:xfrm>
            <a:off x="5960734" y="1618562"/>
            <a:ext cx="2194554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输入图像 (800x600)</a:t>
            </a:r>
            <a:endParaRPr lang="en-US" sz="785" dirty="0"/>
          </a:p>
        </p:txBody>
      </p:sp>
      <p:pic>
        <p:nvPicPr>
          <p:cNvPr id="26" name="Image 1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6993731" y="2085696"/>
            <a:ext cx="128588" cy="171450"/>
          </a:xfrm>
          <a:prstGeom prst="rect">
            <a:avLst/>
          </a:prstGeom>
        </p:spPr>
      </p:pic>
      <p:sp>
        <p:nvSpPr>
          <p:cNvPr id="27" name="Shape 23"/>
          <p:cNvSpPr/>
          <p:nvPr>
            <p:custDataLst>
              <p:tags r:id="rId23"/>
            </p:custDataLst>
          </p:nvPr>
        </p:nvSpPr>
        <p:spPr>
          <a:xfrm>
            <a:off x="5960734" y="2334946"/>
            <a:ext cx="2194554" cy="385763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28" name="Text 24"/>
          <p:cNvSpPr/>
          <p:nvPr>
            <p:custDataLst>
              <p:tags r:id="rId24"/>
            </p:custDataLst>
          </p:nvPr>
        </p:nvSpPr>
        <p:spPr>
          <a:xfrm>
            <a:off x="5960734" y="2334946"/>
            <a:ext cx="2194554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CNN Backbone (Darknet-19)</a:t>
            </a:r>
            <a:endParaRPr lang="en-US" sz="785" dirty="0"/>
          </a:p>
        </p:txBody>
      </p:sp>
      <p:pic>
        <p:nvPicPr>
          <p:cNvPr id="29" name="Image 2" descr="preencoded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6993731" y="2802080"/>
            <a:ext cx="128588" cy="171450"/>
          </a:xfrm>
          <a:prstGeom prst="rect">
            <a:avLst/>
          </a:prstGeom>
        </p:spPr>
      </p:pic>
      <p:sp>
        <p:nvSpPr>
          <p:cNvPr id="30" name="Shape 25"/>
          <p:cNvSpPr/>
          <p:nvPr>
            <p:custDataLst>
              <p:tags r:id="rId27"/>
            </p:custDataLst>
          </p:nvPr>
        </p:nvSpPr>
        <p:spPr>
          <a:xfrm>
            <a:off x="5960734" y="3051330"/>
            <a:ext cx="2194554" cy="385763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31" name="Text 26"/>
          <p:cNvSpPr/>
          <p:nvPr>
            <p:custDataLst>
              <p:tags r:id="rId28"/>
            </p:custDataLst>
          </p:nvPr>
        </p:nvSpPr>
        <p:spPr>
          <a:xfrm>
            <a:off x="5960734" y="3051330"/>
            <a:ext cx="2194554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Transformer Encoder (8-Head)</a:t>
            </a:r>
            <a:endParaRPr lang="en-US" sz="785" dirty="0"/>
          </a:p>
        </p:txBody>
      </p:sp>
      <p:pic>
        <p:nvPicPr>
          <p:cNvPr id="32" name="Image 3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6993731" y="3518464"/>
            <a:ext cx="128588" cy="171450"/>
          </a:xfrm>
          <a:prstGeom prst="rect">
            <a:avLst/>
          </a:prstGeom>
        </p:spPr>
      </p:pic>
      <p:sp>
        <p:nvSpPr>
          <p:cNvPr id="33" name="Shape 27"/>
          <p:cNvSpPr/>
          <p:nvPr>
            <p:custDataLst>
              <p:tags r:id="rId31"/>
            </p:custDataLst>
          </p:nvPr>
        </p:nvSpPr>
        <p:spPr>
          <a:xfrm>
            <a:off x="5960734" y="3767714"/>
            <a:ext cx="2194554" cy="385763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34" name="Text 28"/>
          <p:cNvSpPr/>
          <p:nvPr>
            <p:custDataLst>
              <p:tags r:id="rId32"/>
            </p:custDataLst>
          </p:nvPr>
        </p:nvSpPr>
        <p:spPr>
          <a:xfrm>
            <a:off x="5960734" y="3767714"/>
            <a:ext cx="2194554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混合特征映射 (18x25)</a:t>
            </a:r>
            <a:endParaRPr lang="en-US" sz="7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85825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1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CNN-Transformer 混合驱动机制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571500" y="1201657"/>
            <a:ext cx="4543425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通过融合 CNN 的局部特征提取能力与 Transformer 的全局建模优势，构建具备长程空间依赖感知的特征提取网络。</a:t>
            </a:r>
            <a:endParaRPr lang="en-US" sz="1050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571500" y="1808876"/>
            <a:ext cx="228600" cy="228600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571500" y="1808876"/>
            <a:ext cx="228600" cy="2286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1</a:t>
            </a:r>
            <a:endParaRPr lang="en-US" sz="785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907256" y="1808876"/>
            <a:ext cx="4207669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Backbone: Darknet-19</a:t>
            </a:r>
            <a:endParaRPr lang="en-US" sz="1090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907256" y="2073194"/>
            <a:ext cx="4207669" cy="339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9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高效提取图像的局部纹理、边缘及初步语义特征，为后续处理提供高质量特征图。</a:t>
            </a:r>
            <a:endParaRPr lang="en-US" sz="890" dirty="0"/>
          </a:p>
        </p:txBody>
      </p:sp>
      <p:sp>
        <p:nvSpPr>
          <p:cNvPr id="11" name="Shape 8"/>
          <p:cNvSpPr/>
          <p:nvPr>
            <p:custDataLst>
              <p:tags r:id="rId6"/>
            </p:custDataLst>
          </p:nvPr>
        </p:nvSpPr>
        <p:spPr>
          <a:xfrm>
            <a:off x="571500" y="2541780"/>
            <a:ext cx="228600" cy="228600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571500" y="2541780"/>
            <a:ext cx="228600" cy="2286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2</a:t>
            </a:r>
            <a:endParaRPr lang="en-US" sz="785" dirty="0"/>
          </a:p>
        </p:txBody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907256" y="2541780"/>
            <a:ext cx="4207669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Neck: Transformer Encoder</a:t>
            </a:r>
            <a:endParaRPr lang="en-US" sz="1090" dirty="0"/>
          </a:p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907256" y="2806098"/>
            <a:ext cx="4207669" cy="339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9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在特征图上建立全局关联，利用未遮挡区域的上下文信息补全被遮挡目标的几何特征。</a:t>
            </a:r>
            <a:endParaRPr lang="en-US" sz="890" dirty="0"/>
          </a:p>
        </p:txBody>
      </p:sp>
      <p:sp>
        <p:nvSpPr>
          <p:cNvPr id="15" name="Shape 12"/>
          <p:cNvSpPr/>
          <p:nvPr>
            <p:custDataLst>
              <p:tags r:id="rId10"/>
            </p:custDataLst>
          </p:nvPr>
        </p:nvSpPr>
        <p:spPr>
          <a:xfrm>
            <a:off x="571500" y="3274684"/>
            <a:ext cx="228600" cy="228600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571500" y="3274684"/>
            <a:ext cx="228600" cy="2286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3</a:t>
            </a:r>
            <a:endParaRPr lang="en-US" sz="785" dirty="0"/>
          </a:p>
        </p:txBody>
      </p:sp>
      <p:sp>
        <p:nvSpPr>
          <p:cNvPr id="17" name="Text 14"/>
          <p:cNvSpPr/>
          <p:nvPr>
            <p:custDataLst>
              <p:tags r:id="rId12"/>
            </p:custDataLst>
          </p:nvPr>
        </p:nvSpPr>
        <p:spPr>
          <a:xfrm>
            <a:off x="907256" y="3274684"/>
            <a:ext cx="4207669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8头自注意力机制</a:t>
            </a:r>
            <a:endParaRPr lang="en-US" sz="1090" dirty="0"/>
          </a:p>
        </p:txBody>
      </p:sp>
      <p:sp>
        <p:nvSpPr>
          <p:cNvPr id="18" name="Text 15"/>
          <p:cNvSpPr/>
          <p:nvPr>
            <p:custDataLst>
              <p:tags r:id="rId13"/>
            </p:custDataLst>
          </p:nvPr>
        </p:nvSpPr>
        <p:spPr>
          <a:xfrm>
            <a:off x="907256" y="3539003"/>
            <a:ext cx="4207669" cy="339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9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Multi-Head Self-Attention 允许模型在多个子空间内并行学习空间依赖，增强特征表达。</a:t>
            </a:r>
            <a:endParaRPr lang="en-US" sz="890" dirty="0"/>
          </a:p>
        </p:txBody>
      </p:sp>
      <p:sp>
        <p:nvSpPr>
          <p:cNvPr id="19" name="Shape 16"/>
          <p:cNvSpPr/>
          <p:nvPr>
            <p:custDataLst>
              <p:tags r:id="rId14"/>
            </p:custDataLst>
          </p:nvPr>
        </p:nvSpPr>
        <p:spPr>
          <a:xfrm>
            <a:off x="571500" y="4007588"/>
            <a:ext cx="228600" cy="228600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20" name="Text 17"/>
          <p:cNvSpPr/>
          <p:nvPr>
            <p:custDataLst>
              <p:tags r:id="rId15"/>
            </p:custDataLst>
          </p:nvPr>
        </p:nvSpPr>
        <p:spPr>
          <a:xfrm>
            <a:off x="571500" y="4007588"/>
            <a:ext cx="228600" cy="2286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4</a:t>
            </a:r>
            <a:endParaRPr lang="en-US" sz="785" dirty="0"/>
          </a:p>
        </p:txBody>
      </p:sp>
      <p:sp>
        <p:nvSpPr>
          <p:cNvPr id="21" name="Text 18"/>
          <p:cNvSpPr/>
          <p:nvPr>
            <p:custDataLst>
              <p:tags r:id="rId16"/>
            </p:custDataLst>
          </p:nvPr>
        </p:nvSpPr>
        <p:spPr>
          <a:xfrm>
            <a:off x="907256" y="4007588"/>
            <a:ext cx="4129088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鲁棒性提升</a:t>
            </a:r>
            <a:endParaRPr lang="en-US" sz="1090" dirty="0"/>
          </a:p>
        </p:txBody>
      </p:sp>
      <p:sp>
        <p:nvSpPr>
          <p:cNvPr id="22" name="Text 19"/>
          <p:cNvSpPr/>
          <p:nvPr>
            <p:custDataLst>
              <p:tags r:id="rId17"/>
            </p:custDataLst>
          </p:nvPr>
        </p:nvSpPr>
        <p:spPr>
          <a:xfrm>
            <a:off x="907256" y="4271907"/>
            <a:ext cx="4129088" cy="1699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9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显著增强了模型在密集簇生、剧烈光照等非结构化场景下的几何感知稳定性。</a:t>
            </a:r>
            <a:endParaRPr lang="en-US" sz="890" dirty="0"/>
          </a:p>
        </p:txBody>
      </p:sp>
      <p:sp>
        <p:nvSpPr>
          <p:cNvPr id="23" name="Shape 20"/>
          <p:cNvSpPr/>
          <p:nvPr>
            <p:custDataLst>
              <p:tags r:id="rId18"/>
            </p:custDataLst>
          </p:nvPr>
        </p:nvSpPr>
        <p:spPr>
          <a:xfrm>
            <a:off x="5543550" y="1457325"/>
            <a:ext cx="3028950" cy="2857500"/>
          </a:xfrm>
          <a:prstGeom prst="rect">
            <a:avLst/>
          </a:prstGeom>
          <a:solidFill>
            <a:srgbClr val="FFFFFF"/>
          </a:solidFill>
          <a:ln w="18288">
            <a:solidFill>
              <a:srgbClr val="E67E22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24" name="Shape 21"/>
          <p:cNvSpPr/>
          <p:nvPr>
            <p:custDataLst>
              <p:tags r:id="rId19"/>
            </p:custDataLst>
          </p:nvPr>
        </p:nvSpPr>
        <p:spPr>
          <a:xfrm>
            <a:off x="5960734" y="1618562"/>
            <a:ext cx="2194554" cy="385763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25" name="Text 22"/>
          <p:cNvSpPr/>
          <p:nvPr>
            <p:custDataLst>
              <p:tags r:id="rId20"/>
            </p:custDataLst>
          </p:nvPr>
        </p:nvSpPr>
        <p:spPr>
          <a:xfrm>
            <a:off x="5960734" y="1618562"/>
            <a:ext cx="2194554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输入图像 (800x600)</a:t>
            </a:r>
            <a:endParaRPr lang="en-US" sz="785" dirty="0"/>
          </a:p>
        </p:txBody>
      </p:sp>
      <p:pic>
        <p:nvPicPr>
          <p:cNvPr id="26" name="Image 1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6993731" y="2085696"/>
            <a:ext cx="128588" cy="171450"/>
          </a:xfrm>
          <a:prstGeom prst="rect">
            <a:avLst/>
          </a:prstGeom>
        </p:spPr>
      </p:pic>
      <p:sp>
        <p:nvSpPr>
          <p:cNvPr id="27" name="Shape 23"/>
          <p:cNvSpPr/>
          <p:nvPr>
            <p:custDataLst>
              <p:tags r:id="rId23"/>
            </p:custDataLst>
          </p:nvPr>
        </p:nvSpPr>
        <p:spPr>
          <a:xfrm>
            <a:off x="5960734" y="2334946"/>
            <a:ext cx="2194554" cy="385763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28" name="Text 24"/>
          <p:cNvSpPr/>
          <p:nvPr>
            <p:custDataLst>
              <p:tags r:id="rId24"/>
            </p:custDataLst>
          </p:nvPr>
        </p:nvSpPr>
        <p:spPr>
          <a:xfrm>
            <a:off x="5960734" y="2334946"/>
            <a:ext cx="2194554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CNN Backbone (Darknet-19)</a:t>
            </a:r>
            <a:endParaRPr lang="en-US" sz="785" dirty="0"/>
          </a:p>
        </p:txBody>
      </p:sp>
      <p:pic>
        <p:nvPicPr>
          <p:cNvPr id="29" name="Image 2" descr="preencoded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6993731" y="2802080"/>
            <a:ext cx="128588" cy="171450"/>
          </a:xfrm>
          <a:prstGeom prst="rect">
            <a:avLst/>
          </a:prstGeom>
        </p:spPr>
      </p:pic>
      <p:sp>
        <p:nvSpPr>
          <p:cNvPr id="30" name="Shape 25"/>
          <p:cNvSpPr/>
          <p:nvPr>
            <p:custDataLst>
              <p:tags r:id="rId27"/>
            </p:custDataLst>
          </p:nvPr>
        </p:nvSpPr>
        <p:spPr>
          <a:xfrm>
            <a:off x="5960734" y="3051330"/>
            <a:ext cx="2194554" cy="385763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31" name="Text 26"/>
          <p:cNvSpPr/>
          <p:nvPr>
            <p:custDataLst>
              <p:tags r:id="rId28"/>
            </p:custDataLst>
          </p:nvPr>
        </p:nvSpPr>
        <p:spPr>
          <a:xfrm>
            <a:off x="5960734" y="3051330"/>
            <a:ext cx="2194554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Transformer Encoder (8-Head)</a:t>
            </a:r>
            <a:endParaRPr lang="en-US" sz="785" dirty="0"/>
          </a:p>
        </p:txBody>
      </p:sp>
      <p:pic>
        <p:nvPicPr>
          <p:cNvPr id="32" name="Image 3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6993731" y="3518464"/>
            <a:ext cx="128588" cy="171450"/>
          </a:xfrm>
          <a:prstGeom prst="rect">
            <a:avLst/>
          </a:prstGeom>
        </p:spPr>
      </p:pic>
      <p:sp>
        <p:nvSpPr>
          <p:cNvPr id="33" name="Shape 27"/>
          <p:cNvSpPr/>
          <p:nvPr>
            <p:custDataLst>
              <p:tags r:id="rId31"/>
            </p:custDataLst>
          </p:nvPr>
        </p:nvSpPr>
        <p:spPr>
          <a:xfrm>
            <a:off x="5960734" y="3767714"/>
            <a:ext cx="2194554" cy="385763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34" name="Text 28"/>
          <p:cNvSpPr/>
          <p:nvPr>
            <p:custDataLst>
              <p:tags r:id="rId32"/>
            </p:custDataLst>
          </p:nvPr>
        </p:nvSpPr>
        <p:spPr>
          <a:xfrm>
            <a:off x="5960734" y="3767714"/>
            <a:ext cx="2194554" cy="385763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混合特征映射 (18x25)</a:t>
            </a:r>
            <a:endParaRPr lang="en-US" sz="785" dirty="0"/>
          </a:p>
        </p:txBody>
      </p:sp>
      <p:pic>
        <p:nvPicPr>
          <p:cNvPr id="35" name="图片 34" descr="模型设计细节与编码原理图_学术版.drawio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9050" y="11430"/>
            <a:ext cx="9119235" cy="5132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85825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1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多任务预测头与几何解算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571500" y="1171575"/>
            <a:ext cx="385762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核心模块 3：解算引擎</a:t>
            </a:r>
            <a:endParaRPr lang="en-US" sz="985" dirty="0"/>
          </a:p>
        </p:txBody>
      </p:sp>
      <p:sp>
        <p:nvSpPr>
          <p:cNvPr id="7" name="Text 4"/>
          <p:cNvSpPr/>
          <p:nvPr/>
        </p:nvSpPr>
        <p:spPr>
          <a:xfrm>
            <a:off x="571500" y="1457325"/>
            <a:ext cx="3857625" cy="300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22维向量编码方案</a:t>
            </a:r>
            <a:endParaRPr lang="en-US" sz="1395" dirty="0"/>
          </a:p>
        </p:txBody>
      </p:sp>
      <p:sp>
        <p:nvSpPr>
          <p:cNvPr id="8" name="Text 5"/>
          <p:cNvSpPr/>
          <p:nvPr/>
        </p:nvSpPr>
        <p:spPr>
          <a:xfrm>
            <a:off x="571500" y="1935956"/>
            <a:ext cx="3857625" cy="4071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5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为了在单阶段网络中同时实现目标检测与3D位姿估计，我们设计了高维向量编码，将几何信息与语义信息深度耦合。</a:t>
            </a:r>
            <a:endParaRPr lang="en-US" sz="995" dirty="0"/>
          </a:p>
        </p:txBody>
      </p:sp>
      <p:sp>
        <p:nvSpPr>
          <p:cNvPr id="9" name="Shape 6"/>
          <p:cNvSpPr/>
          <p:nvPr/>
        </p:nvSpPr>
        <p:spPr>
          <a:xfrm>
            <a:off x="571500" y="2557463"/>
            <a:ext cx="3857625" cy="1430089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10" name="Text 7"/>
          <p:cNvSpPr/>
          <p:nvPr/>
        </p:nvSpPr>
        <p:spPr>
          <a:xfrm>
            <a:off x="714375" y="2700338"/>
            <a:ext cx="955040" cy="2178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向量组成</a:t>
            </a:r>
            <a:r>
              <a:rPr lang="en-US" altLang="zh-CN" sz="985" dirty="0"/>
              <a:t>V∈</a:t>
            </a:r>
            <a:r>
              <a:rPr lang="" altLang="en-US" sz="985" dirty="0"/>
              <a:t>ℝ</a:t>
            </a:r>
            <a:r>
              <a:rPr lang="en-US" altLang="zh-CN" sz="985" dirty="0"/>
              <a:t>22</a:t>
            </a:r>
            <a:endParaRPr lang="en-US" altLang="zh-CN" sz="985" dirty="0"/>
          </a:p>
        </p:txBody>
      </p:sp>
      <p:sp>
        <p:nvSpPr>
          <p:cNvPr id="11" name="Text 8"/>
          <p:cNvSpPr/>
          <p:nvPr/>
        </p:nvSpPr>
        <p:spPr>
          <a:xfrm>
            <a:off x="714375" y="3021806"/>
            <a:ext cx="125984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中心点坐标：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[u, v] (2维)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714375" y="3227524"/>
            <a:ext cx="207010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3D顶点偏移：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16 个关键点偏移量 (16维)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714375" y="3433242"/>
            <a:ext cx="123571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物理尺寸：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[w, h, l](3维)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714375" y="3638959"/>
            <a:ext cx="82613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置信度：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c (1维)</a:t>
            </a:r>
            <a:endParaRPr lang="en-US" sz="885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207294"/>
            <a:ext cx="107156" cy="1428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93469" y="1171575"/>
            <a:ext cx="1241227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EPnP 算法集成要点</a:t>
            </a:r>
            <a:endParaRPr lang="en-US" sz="985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528763"/>
            <a:ext cx="128588" cy="128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14900" y="1493044"/>
            <a:ext cx="3323630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透视投影约束：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建立2D关键点与3D模型顶点的对应关系。</a:t>
            </a:r>
            <a:endParaRPr lang="en-US" sz="885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807369"/>
            <a:ext cx="128588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14900" y="1771650"/>
            <a:ext cx="3657600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实时转换：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实现从像素坐标到旋转矩阵 (R) 和平移向量 (T) 的快速映射。</a:t>
            </a:r>
            <a:endParaRPr lang="en-US" sz="885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2278856"/>
            <a:ext cx="128588" cy="128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14900" y="2243138"/>
            <a:ext cx="337720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鲁棒性：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通过迭代优化减少关键点预测误差对位姿的影响。</a:t>
            </a:r>
            <a:endParaRPr lang="en-US" sz="885" dirty="0"/>
          </a:p>
        </p:txBody>
      </p:sp>
      <p:sp>
        <p:nvSpPr>
          <p:cNvPr id="23" name="Shape 16"/>
          <p:cNvSpPr/>
          <p:nvPr/>
        </p:nvSpPr>
        <p:spPr>
          <a:xfrm>
            <a:off x="4714875" y="2578894"/>
            <a:ext cx="934603" cy="364331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4" name="Text 17"/>
          <p:cNvSpPr/>
          <p:nvPr/>
        </p:nvSpPr>
        <p:spPr>
          <a:xfrm>
            <a:off x="4714875" y="2578894"/>
            <a:ext cx="934603" cy="364331"/>
          </a:xfrm>
          <a:prstGeom prst="rect">
            <a:avLst/>
          </a:prstGeom>
          <a:noFill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任务维度</a:t>
            </a:r>
            <a:endParaRPr lang="en-US" sz="885" dirty="0"/>
          </a:p>
        </p:txBody>
      </p:sp>
      <p:sp>
        <p:nvSpPr>
          <p:cNvPr id="25" name="Shape 18"/>
          <p:cNvSpPr/>
          <p:nvPr/>
        </p:nvSpPr>
        <p:spPr>
          <a:xfrm>
            <a:off x="5649478" y="2578894"/>
            <a:ext cx="2923022" cy="364331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6" name="Text 19"/>
          <p:cNvSpPr/>
          <p:nvPr/>
        </p:nvSpPr>
        <p:spPr>
          <a:xfrm>
            <a:off x="5649478" y="2578894"/>
            <a:ext cx="2923022" cy="364331"/>
          </a:xfrm>
          <a:prstGeom prst="rect">
            <a:avLst/>
          </a:prstGeom>
          <a:noFill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预测/计算内容</a:t>
            </a:r>
            <a:endParaRPr lang="en-US" sz="885" dirty="0"/>
          </a:p>
        </p:txBody>
      </p:sp>
      <p:sp>
        <p:nvSpPr>
          <p:cNvPr id="27" name="Text 20"/>
          <p:cNvSpPr/>
          <p:nvPr/>
        </p:nvSpPr>
        <p:spPr>
          <a:xfrm>
            <a:off x="4822031" y="3036094"/>
            <a:ext cx="433983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2D 预测</a:t>
            </a:r>
            <a:endParaRPr lang="en-US" sz="835" dirty="0"/>
          </a:p>
        </p:txBody>
      </p:sp>
      <p:sp>
        <p:nvSpPr>
          <p:cNvPr id="28" name="Text 21"/>
          <p:cNvSpPr/>
          <p:nvPr/>
        </p:nvSpPr>
        <p:spPr>
          <a:xfrm>
            <a:off x="5649478" y="2943225"/>
            <a:ext cx="2923022" cy="357188"/>
          </a:xfrm>
          <a:prstGeom prst="rect">
            <a:avLst/>
          </a:prstGeom>
          <a:noFill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9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中心点回归、关键点偏移、置信度评分</a:t>
            </a:r>
            <a:endParaRPr lang="en-US" sz="890" dirty="0"/>
          </a:p>
        </p:txBody>
      </p:sp>
      <p:sp>
        <p:nvSpPr>
          <p:cNvPr id="29" name="Text 22"/>
          <p:cNvSpPr/>
          <p:nvPr/>
        </p:nvSpPr>
        <p:spPr>
          <a:xfrm>
            <a:off x="4822031" y="3396853"/>
            <a:ext cx="433983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3D 解算</a:t>
            </a:r>
            <a:endParaRPr lang="en-US" sz="835" dirty="0"/>
          </a:p>
        </p:txBody>
      </p:sp>
      <p:sp>
        <p:nvSpPr>
          <p:cNvPr id="30" name="Text 23"/>
          <p:cNvSpPr/>
          <p:nvPr/>
        </p:nvSpPr>
        <p:spPr>
          <a:xfrm>
            <a:off x="5649478" y="3300413"/>
            <a:ext cx="2923022" cy="360759"/>
          </a:xfrm>
          <a:prstGeom prst="rect">
            <a:avLst/>
          </a:prstGeom>
          <a:noFill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9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EPnP 几何约束、R/T 矩阵生成</a:t>
            </a:r>
            <a:endParaRPr lang="en-US" sz="890" dirty="0"/>
          </a:p>
        </p:txBody>
      </p:sp>
      <p:sp>
        <p:nvSpPr>
          <p:cNvPr id="31" name="Text 24"/>
          <p:cNvSpPr/>
          <p:nvPr/>
        </p:nvSpPr>
        <p:spPr>
          <a:xfrm>
            <a:off x="4822031" y="3757613"/>
            <a:ext cx="485775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尺寸估计</a:t>
            </a:r>
            <a:endParaRPr lang="en-US" sz="835" dirty="0"/>
          </a:p>
        </p:txBody>
      </p:sp>
      <p:sp>
        <p:nvSpPr>
          <p:cNvPr id="32" name="Text 25"/>
          <p:cNvSpPr/>
          <p:nvPr/>
        </p:nvSpPr>
        <p:spPr>
          <a:xfrm>
            <a:off x="5649478" y="3661172"/>
            <a:ext cx="2923022" cy="357188"/>
          </a:xfrm>
          <a:prstGeom prst="rect">
            <a:avLst/>
          </a:prstGeom>
          <a:noFill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9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基于回归向量的物理长宽高计算</a:t>
            </a:r>
            <a:endParaRPr lang="en-US" sz="8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85825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1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多任务预测头与几何解算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571500" y="1171575"/>
            <a:ext cx="385762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核心模块 3：解算引擎</a:t>
            </a:r>
            <a:endParaRPr lang="en-US" sz="985" dirty="0"/>
          </a:p>
        </p:txBody>
      </p:sp>
      <p:sp>
        <p:nvSpPr>
          <p:cNvPr id="7" name="Text 4"/>
          <p:cNvSpPr/>
          <p:nvPr/>
        </p:nvSpPr>
        <p:spPr>
          <a:xfrm>
            <a:off x="571500" y="1457325"/>
            <a:ext cx="3857625" cy="300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22维向量编码方案</a:t>
            </a:r>
            <a:endParaRPr lang="en-US" sz="1395" dirty="0"/>
          </a:p>
        </p:txBody>
      </p:sp>
      <p:sp>
        <p:nvSpPr>
          <p:cNvPr id="8" name="Text 5"/>
          <p:cNvSpPr/>
          <p:nvPr/>
        </p:nvSpPr>
        <p:spPr>
          <a:xfrm>
            <a:off x="571500" y="1935956"/>
            <a:ext cx="3857625" cy="4071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5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为了在单阶段网络中同时实现目标检测与3D位姿估计，我们设计了高维向量编码，将几何信息与语义信息深度耦合。</a:t>
            </a:r>
            <a:endParaRPr lang="en-US" sz="995" dirty="0"/>
          </a:p>
        </p:txBody>
      </p:sp>
      <p:sp>
        <p:nvSpPr>
          <p:cNvPr id="9" name="Shape 6"/>
          <p:cNvSpPr/>
          <p:nvPr/>
        </p:nvSpPr>
        <p:spPr>
          <a:xfrm>
            <a:off x="571500" y="2557463"/>
            <a:ext cx="3857625" cy="1430089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10" name="Text 7"/>
          <p:cNvSpPr/>
          <p:nvPr/>
        </p:nvSpPr>
        <p:spPr>
          <a:xfrm>
            <a:off x="714375" y="2700338"/>
            <a:ext cx="955040" cy="2178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向量组成</a:t>
            </a:r>
            <a:r>
              <a:rPr lang="en-US" altLang="zh-CN" sz="985" dirty="0"/>
              <a:t>V∈</a:t>
            </a:r>
            <a:r>
              <a:rPr lang="en-US" altLang="en-US" sz="985" dirty="0"/>
              <a:t>ℝ</a:t>
            </a:r>
            <a:r>
              <a:rPr lang="en-US" altLang="zh-CN" sz="985" dirty="0"/>
              <a:t>22</a:t>
            </a:r>
            <a:endParaRPr lang="en-US" altLang="zh-CN" sz="985" dirty="0"/>
          </a:p>
        </p:txBody>
      </p:sp>
      <p:sp>
        <p:nvSpPr>
          <p:cNvPr id="11" name="Text 8"/>
          <p:cNvSpPr/>
          <p:nvPr/>
        </p:nvSpPr>
        <p:spPr>
          <a:xfrm>
            <a:off x="714375" y="3021806"/>
            <a:ext cx="125984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中心点坐标：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[u, v] (2维)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714375" y="3227524"/>
            <a:ext cx="207010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3D顶点偏移：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16 个关键点偏移量 (16维)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714375" y="3433242"/>
            <a:ext cx="123571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物理尺寸：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[w, h, l](3维)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714375" y="3638959"/>
            <a:ext cx="82613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置信度：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c (1维)</a:t>
            </a:r>
            <a:endParaRPr lang="en-US" sz="885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207294"/>
            <a:ext cx="107156" cy="1428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93469" y="1171575"/>
            <a:ext cx="1241227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EPnP 算法集成要点</a:t>
            </a:r>
            <a:endParaRPr lang="en-US" sz="985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528763"/>
            <a:ext cx="128588" cy="128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14900" y="1493044"/>
            <a:ext cx="3323630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透视投影约束：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建立2D关键点与3D模型顶点的对应关系。</a:t>
            </a:r>
            <a:endParaRPr lang="en-US" sz="885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807369"/>
            <a:ext cx="128588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14900" y="1771650"/>
            <a:ext cx="3657600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实时转换：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实现从像素坐标到旋转矩阵 (R) 和平移向量 (T) 的快速映射。</a:t>
            </a:r>
            <a:endParaRPr lang="en-US" sz="885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2278856"/>
            <a:ext cx="128588" cy="128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14900" y="2243138"/>
            <a:ext cx="337720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鲁棒性：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通过迭代优化减少关键点预测误差对位姿的影响。</a:t>
            </a:r>
            <a:endParaRPr lang="en-US" sz="885" dirty="0"/>
          </a:p>
        </p:txBody>
      </p:sp>
      <p:sp>
        <p:nvSpPr>
          <p:cNvPr id="23" name="Shape 16"/>
          <p:cNvSpPr/>
          <p:nvPr/>
        </p:nvSpPr>
        <p:spPr>
          <a:xfrm>
            <a:off x="4714875" y="2578894"/>
            <a:ext cx="934603" cy="364331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4" name="Text 17"/>
          <p:cNvSpPr/>
          <p:nvPr/>
        </p:nvSpPr>
        <p:spPr>
          <a:xfrm>
            <a:off x="4714875" y="2578894"/>
            <a:ext cx="934603" cy="364331"/>
          </a:xfrm>
          <a:prstGeom prst="rect">
            <a:avLst/>
          </a:prstGeom>
          <a:noFill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任务维度</a:t>
            </a:r>
            <a:endParaRPr lang="en-US" sz="885" dirty="0"/>
          </a:p>
        </p:txBody>
      </p:sp>
      <p:sp>
        <p:nvSpPr>
          <p:cNvPr id="25" name="Shape 18"/>
          <p:cNvSpPr/>
          <p:nvPr/>
        </p:nvSpPr>
        <p:spPr>
          <a:xfrm>
            <a:off x="5649478" y="2578894"/>
            <a:ext cx="2923022" cy="364331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6" name="Text 19"/>
          <p:cNvSpPr/>
          <p:nvPr/>
        </p:nvSpPr>
        <p:spPr>
          <a:xfrm>
            <a:off x="5649478" y="2578894"/>
            <a:ext cx="2923022" cy="364331"/>
          </a:xfrm>
          <a:prstGeom prst="rect">
            <a:avLst/>
          </a:prstGeom>
          <a:noFill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预测/计算内容</a:t>
            </a:r>
            <a:endParaRPr lang="en-US" sz="885" dirty="0"/>
          </a:p>
        </p:txBody>
      </p:sp>
      <p:sp>
        <p:nvSpPr>
          <p:cNvPr id="27" name="Text 20"/>
          <p:cNvSpPr/>
          <p:nvPr/>
        </p:nvSpPr>
        <p:spPr>
          <a:xfrm>
            <a:off x="4822031" y="3036094"/>
            <a:ext cx="433983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2D 预测</a:t>
            </a:r>
            <a:endParaRPr lang="en-US" sz="835" dirty="0"/>
          </a:p>
        </p:txBody>
      </p:sp>
      <p:sp>
        <p:nvSpPr>
          <p:cNvPr id="28" name="Text 21"/>
          <p:cNvSpPr/>
          <p:nvPr/>
        </p:nvSpPr>
        <p:spPr>
          <a:xfrm>
            <a:off x="5649478" y="2943225"/>
            <a:ext cx="2923022" cy="357188"/>
          </a:xfrm>
          <a:prstGeom prst="rect">
            <a:avLst/>
          </a:prstGeom>
          <a:noFill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9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中心点回归、关键点偏移、置信度评分</a:t>
            </a:r>
            <a:endParaRPr lang="en-US" sz="890" dirty="0"/>
          </a:p>
        </p:txBody>
      </p:sp>
      <p:sp>
        <p:nvSpPr>
          <p:cNvPr id="29" name="Text 22"/>
          <p:cNvSpPr/>
          <p:nvPr/>
        </p:nvSpPr>
        <p:spPr>
          <a:xfrm>
            <a:off x="4822031" y="3396853"/>
            <a:ext cx="433983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3D 解算</a:t>
            </a:r>
            <a:endParaRPr lang="en-US" sz="835" dirty="0"/>
          </a:p>
        </p:txBody>
      </p:sp>
      <p:sp>
        <p:nvSpPr>
          <p:cNvPr id="30" name="Text 23"/>
          <p:cNvSpPr/>
          <p:nvPr/>
        </p:nvSpPr>
        <p:spPr>
          <a:xfrm>
            <a:off x="5649478" y="3300413"/>
            <a:ext cx="2923022" cy="360759"/>
          </a:xfrm>
          <a:prstGeom prst="rect">
            <a:avLst/>
          </a:prstGeom>
          <a:noFill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9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EPnP 几何约束、R/T 矩阵生成</a:t>
            </a:r>
            <a:endParaRPr lang="en-US" sz="890" dirty="0"/>
          </a:p>
        </p:txBody>
      </p:sp>
      <p:sp>
        <p:nvSpPr>
          <p:cNvPr id="31" name="Text 24"/>
          <p:cNvSpPr/>
          <p:nvPr/>
        </p:nvSpPr>
        <p:spPr>
          <a:xfrm>
            <a:off x="4822031" y="3757613"/>
            <a:ext cx="485775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尺寸估计</a:t>
            </a:r>
            <a:endParaRPr lang="en-US" sz="835" dirty="0"/>
          </a:p>
        </p:txBody>
      </p:sp>
      <p:sp>
        <p:nvSpPr>
          <p:cNvPr id="32" name="Text 25"/>
          <p:cNvSpPr/>
          <p:nvPr/>
        </p:nvSpPr>
        <p:spPr>
          <a:xfrm>
            <a:off x="5649478" y="3661172"/>
            <a:ext cx="2923022" cy="357188"/>
          </a:xfrm>
          <a:prstGeom prst="rect">
            <a:avLst/>
          </a:prstGeom>
          <a:noFill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9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基于回归向量的物理长宽高计算</a:t>
            </a:r>
            <a:endParaRPr lang="en-US" sz="890" dirty="0"/>
          </a:p>
        </p:txBody>
      </p:sp>
      <p:pic>
        <p:nvPicPr>
          <p:cNvPr id="33" name="图片 32" descr="网格向量编码原理图.drawi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" y="1003300"/>
            <a:ext cx="9008110" cy="33661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85825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1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数据流水线与联合训练方案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571500" y="1100138"/>
            <a:ext cx="4247294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训练优化</a:t>
            </a:r>
            <a:endParaRPr lang="en-US" sz="1195" dirty="0"/>
          </a:p>
        </p:txBody>
      </p:sp>
      <p:sp>
        <p:nvSpPr>
          <p:cNvPr id="7" name="Text 4"/>
          <p:cNvSpPr/>
          <p:nvPr/>
        </p:nvSpPr>
        <p:spPr>
          <a:xfrm>
            <a:off x="571500" y="1414463"/>
            <a:ext cx="4247294" cy="300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鲁棒性增强与损失函数设计</a:t>
            </a:r>
            <a:endParaRPr lang="en-US" sz="1395" dirty="0"/>
          </a:p>
        </p:txBody>
      </p:sp>
      <p:sp>
        <p:nvSpPr>
          <p:cNvPr id="8" name="Text 5"/>
          <p:cNvSpPr/>
          <p:nvPr/>
        </p:nvSpPr>
        <p:spPr>
          <a:xfrm>
            <a:off x="571500" y="1828800"/>
            <a:ext cx="4247294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通过先进的数据增强技术与多任务联合损失函数，确保模型在复杂非结构化环境下的收敛稳定性与泛化能力。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30661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8675" y="2371725"/>
            <a:ext cx="3990119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Albumentations 色彩抖动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- 模拟全时段自然光照（逆光、阴影、HDR），增强模型对剧烈光照变化的鲁棒性。</a:t>
            </a:r>
            <a:endParaRPr lang="en-US" sz="885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62132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8675" y="2803196"/>
            <a:ext cx="3990119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Smooth-L1 坐标回归损失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- 用于关键点与尺寸回归，有效缓解训练初期的梯度震荡，提升定位精度。</a:t>
            </a:r>
            <a:endParaRPr lang="en-US" sz="885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93604"/>
            <a:ext cx="171450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8675" y="3234668"/>
            <a:ext cx="3990119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BCE 置信度损失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- 针对目标存在性进行二分类监督，确保高置信度区域与真实目标高度重合。</a:t>
            </a:r>
            <a:endParaRPr lang="en-US" sz="885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25075"/>
            <a:ext cx="214313" cy="171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71538" y="3666139"/>
            <a:ext cx="3947257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动态权重平衡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- 引入自适应权重调整机制，平衡不同任务间的收敛速度，防止单一任务主导梯度。</a:t>
            </a:r>
            <a:endParaRPr lang="en-US" sz="885" dirty="0"/>
          </a:p>
        </p:txBody>
      </p:sp>
      <p:sp>
        <p:nvSpPr>
          <p:cNvPr id="17" name="Shape 10"/>
          <p:cNvSpPr/>
          <p:nvPr/>
        </p:nvSpPr>
        <p:spPr>
          <a:xfrm>
            <a:off x="5033107" y="1243013"/>
            <a:ext cx="3539393" cy="1651602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18" name="Text 11"/>
          <p:cNvSpPr/>
          <p:nvPr/>
        </p:nvSpPr>
        <p:spPr>
          <a:xfrm>
            <a:off x="5118832" y="1328738"/>
            <a:ext cx="3367943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联合损失函数公式</a:t>
            </a:r>
            <a:endParaRPr lang="en-US" sz="985" dirty="0"/>
          </a:p>
        </p:txBody>
      </p:sp>
      <p:sp>
        <p:nvSpPr>
          <p:cNvPr id="19" name="Text 12"/>
          <p:cNvSpPr/>
          <p:nvPr/>
        </p:nvSpPr>
        <p:spPr>
          <a:xfrm>
            <a:off x="5118832" y="1614488"/>
            <a:ext cx="3367943" cy="540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$\mathcal{L}_{total} = \lambda_1 \mathcal{L}_{coord} + \lambda_2 \mathcal{L}_{size} + \lambda_3 \mathcal{L}_{conf}$</a:t>
            </a:r>
            <a:endParaRPr lang="en-US" sz="940" dirty="0"/>
          </a:p>
        </p:txBody>
      </p:sp>
      <p:sp>
        <p:nvSpPr>
          <p:cNvPr id="20" name="Text 13"/>
          <p:cNvSpPr/>
          <p:nvPr/>
        </p:nvSpPr>
        <p:spPr>
          <a:xfrm>
            <a:off x="5118832" y="2268838"/>
            <a:ext cx="1590040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" alt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ℒ</a:t>
            </a:r>
            <a:r>
              <a:rPr lang="en-US" altLang="zh-CN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coord</a:t>
            </a: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8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Smooth-L1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关键点回归</a:t>
            </a:r>
            <a:endParaRPr lang="en-US" sz="885" dirty="0"/>
          </a:p>
        </p:txBody>
      </p:sp>
      <p:sp>
        <p:nvSpPr>
          <p:cNvPr id="21" name="Text 14"/>
          <p:cNvSpPr/>
          <p:nvPr/>
        </p:nvSpPr>
        <p:spPr>
          <a:xfrm>
            <a:off x="5118832" y="2448855"/>
            <a:ext cx="1213485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" alt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ℒ</a:t>
            </a:r>
            <a:r>
              <a:rPr lang="en-US" altLang="zh-CN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dim</a:t>
            </a: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8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L2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物理尺寸估计</a:t>
            </a:r>
            <a:endParaRPr lang="en-US" sz="885" dirty="0"/>
          </a:p>
        </p:txBody>
      </p:sp>
      <p:sp>
        <p:nvSpPr>
          <p:cNvPr id="22" name="Text 15"/>
          <p:cNvSpPr/>
          <p:nvPr/>
        </p:nvSpPr>
        <p:spPr>
          <a:xfrm>
            <a:off x="5118832" y="2628872"/>
            <a:ext cx="1214120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" alt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ℒ</a:t>
            </a:r>
            <a:r>
              <a:rPr lang="en-US" altLang="zh-CN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conf</a:t>
            </a: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8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BCE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目标置信度</a:t>
            </a:r>
            <a:endParaRPr lang="en-US" sz="885" dirty="0"/>
          </a:p>
        </p:txBody>
      </p:sp>
      <p:sp>
        <p:nvSpPr>
          <p:cNvPr id="23" name="Shape 16"/>
          <p:cNvSpPr/>
          <p:nvPr/>
        </p:nvSpPr>
        <p:spPr>
          <a:xfrm>
            <a:off x="5033107" y="3008914"/>
            <a:ext cx="3539393" cy="1414435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24" name="Text 17"/>
          <p:cNvSpPr/>
          <p:nvPr/>
        </p:nvSpPr>
        <p:spPr>
          <a:xfrm>
            <a:off x="5118832" y="3094639"/>
            <a:ext cx="3367943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训练超参数配置</a:t>
            </a:r>
            <a:endParaRPr lang="en-US" sz="985" dirty="0"/>
          </a:p>
        </p:txBody>
      </p:sp>
      <p:sp>
        <p:nvSpPr>
          <p:cNvPr id="25" name="Text 18"/>
          <p:cNvSpPr/>
          <p:nvPr/>
        </p:nvSpPr>
        <p:spPr>
          <a:xfrm>
            <a:off x="5118832" y="3380389"/>
            <a:ext cx="3367943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Epochs: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300 次迭代</a:t>
            </a:r>
            <a:endParaRPr lang="en-US" sz="885" dirty="0"/>
          </a:p>
        </p:txBody>
      </p:sp>
      <p:sp>
        <p:nvSpPr>
          <p:cNvPr id="26" name="Text 19"/>
          <p:cNvSpPr/>
          <p:nvPr/>
        </p:nvSpPr>
        <p:spPr>
          <a:xfrm>
            <a:off x="5118832" y="3560406"/>
            <a:ext cx="3367943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Optimizer: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AdamW (LR=1e-4)</a:t>
            </a:r>
            <a:endParaRPr lang="en-US" sz="885" dirty="0"/>
          </a:p>
        </p:txBody>
      </p:sp>
      <p:sp>
        <p:nvSpPr>
          <p:cNvPr id="27" name="Text 20"/>
          <p:cNvSpPr/>
          <p:nvPr/>
        </p:nvSpPr>
        <p:spPr>
          <a:xfrm>
            <a:off x="5118832" y="3740423"/>
            <a:ext cx="3367943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Scheduler: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Cosine Annealing</a:t>
            </a:r>
            <a:endParaRPr lang="en-US" sz="885" dirty="0"/>
          </a:p>
        </p:txBody>
      </p:sp>
      <p:sp>
        <p:nvSpPr>
          <p:cNvPr id="28" name="Text 21"/>
          <p:cNvSpPr/>
          <p:nvPr/>
        </p:nvSpPr>
        <p:spPr>
          <a:xfrm>
            <a:off x="5118832" y="3977590"/>
            <a:ext cx="3367943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阶段性成果：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Avg Loss 稳定收敛于 </a:t>
            </a:r>
            <a:r>
              <a:rPr lang="en-US" sz="8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6.47</a:t>
            </a: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，多任务协同优化效果显著。</a:t>
            </a:r>
            <a:endParaRPr lang="en-US" sz="885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3010" y="1671955"/>
            <a:ext cx="34290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14388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48577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1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性能评估与误差分析成果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571500" y="957263"/>
            <a:ext cx="354589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训练指标与改进效果</a:t>
            </a:r>
            <a:endParaRPr lang="en-US" sz="985" dirty="0"/>
          </a:p>
        </p:txBody>
      </p:sp>
      <p:sp>
        <p:nvSpPr>
          <p:cNvPr id="7" name="Text 4"/>
          <p:cNvSpPr/>
          <p:nvPr/>
        </p:nvSpPr>
        <p:spPr>
          <a:xfrm>
            <a:off x="571500" y="1214438"/>
            <a:ext cx="3545895" cy="300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模型收敛与精度提升</a:t>
            </a:r>
            <a:endParaRPr lang="en-US" sz="1395" dirty="0"/>
          </a:p>
        </p:txBody>
      </p:sp>
      <p:sp>
        <p:nvSpPr>
          <p:cNvPr id="8" name="Text 5"/>
          <p:cNvSpPr/>
          <p:nvPr/>
        </p:nvSpPr>
        <p:spPr>
          <a:xfrm>
            <a:off x="571500" y="1614488"/>
            <a:ext cx="3545895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在 Straw6D 数据集上进行了 300 Epoch 的深度训练，模型表现出良好的收敛特性与泛化能力。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571500" y="2125935"/>
            <a:ext cx="3545895" cy="1171575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10" name="Text 7"/>
          <p:cNvSpPr/>
          <p:nvPr/>
        </p:nvSpPr>
        <p:spPr>
          <a:xfrm>
            <a:off x="657225" y="2211660"/>
            <a:ext cx="3374445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核心量化成果</a:t>
            </a:r>
            <a:endParaRPr lang="en-US" sz="109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2538487"/>
            <a:ext cx="128588" cy="128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1550" y="2513484"/>
            <a:ext cx="551855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Avg Loss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1523405" y="2513484"/>
            <a:ext cx="710803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稳定收敛于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2234208" y="2513484"/>
            <a:ext cx="257175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6.47</a:t>
            </a:r>
            <a:endParaRPr lang="en-US" sz="885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774231"/>
            <a:ext cx="96441" cy="128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9403" y="2749228"/>
            <a:ext cx="1191220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验证集位姿误差下降</a:t>
            </a:r>
            <a:endParaRPr lang="en-US" sz="940" dirty="0"/>
          </a:p>
        </p:txBody>
      </p:sp>
      <p:sp>
        <p:nvSpPr>
          <p:cNvPr id="17" name="Text 12"/>
          <p:cNvSpPr/>
          <p:nvPr/>
        </p:nvSpPr>
        <p:spPr>
          <a:xfrm>
            <a:off x="2130623" y="2749228"/>
            <a:ext cx="373261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12.5%</a:t>
            </a:r>
            <a:endParaRPr lang="en-US" sz="885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009974"/>
            <a:ext cx="96441" cy="1285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9403" y="2984971"/>
            <a:ext cx="1543050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推理速度满足实时采摘需求</a:t>
            </a:r>
            <a:endParaRPr lang="en-US" sz="94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83235"/>
            <a:ext cx="3545086" cy="107156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17420" y="957263"/>
            <a:ext cx="4255080" cy="300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典型误差源归因分析</a:t>
            </a:r>
            <a:endParaRPr lang="en-US" sz="1395" dirty="0"/>
          </a:p>
        </p:txBody>
      </p:sp>
      <p:sp>
        <p:nvSpPr>
          <p:cNvPr id="22" name="Shape 15"/>
          <p:cNvSpPr/>
          <p:nvPr/>
        </p:nvSpPr>
        <p:spPr>
          <a:xfrm>
            <a:off x="4317420" y="1357313"/>
            <a:ext cx="4255080" cy="162163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Shape 16"/>
          <p:cNvSpPr/>
          <p:nvPr/>
        </p:nvSpPr>
        <p:spPr>
          <a:xfrm>
            <a:off x="4317420" y="1357313"/>
            <a:ext cx="1146767" cy="335756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4" name="Text 17"/>
          <p:cNvSpPr/>
          <p:nvPr/>
        </p:nvSpPr>
        <p:spPr>
          <a:xfrm>
            <a:off x="4317420" y="1357313"/>
            <a:ext cx="1146767" cy="335756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误差来源</a:t>
            </a:r>
            <a:endParaRPr lang="en-US" sz="885" dirty="0"/>
          </a:p>
        </p:txBody>
      </p:sp>
      <p:sp>
        <p:nvSpPr>
          <p:cNvPr id="25" name="Shape 18"/>
          <p:cNvSpPr/>
          <p:nvPr/>
        </p:nvSpPr>
        <p:spPr>
          <a:xfrm>
            <a:off x="5464187" y="1357313"/>
            <a:ext cx="3108313" cy="335756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6" name="Text 19"/>
          <p:cNvSpPr/>
          <p:nvPr/>
        </p:nvSpPr>
        <p:spPr>
          <a:xfrm>
            <a:off x="5464187" y="1357313"/>
            <a:ext cx="3108313" cy="335756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表现形式与影响</a:t>
            </a:r>
            <a:endParaRPr lang="en-US" sz="885" dirty="0"/>
          </a:p>
        </p:txBody>
      </p:sp>
      <p:sp>
        <p:nvSpPr>
          <p:cNvPr id="27" name="Text 20"/>
          <p:cNvSpPr/>
          <p:nvPr/>
        </p:nvSpPr>
        <p:spPr>
          <a:xfrm>
            <a:off x="4403145" y="1771650"/>
            <a:ext cx="45720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极端遮挡</a:t>
            </a:r>
            <a:endParaRPr lang="en-US" sz="785" dirty="0"/>
          </a:p>
        </p:txBody>
      </p:sp>
      <p:sp>
        <p:nvSpPr>
          <p:cNvPr id="28" name="Text 21"/>
          <p:cNvSpPr/>
          <p:nvPr/>
        </p:nvSpPr>
        <p:spPr>
          <a:xfrm>
            <a:off x="5464187" y="1693069"/>
            <a:ext cx="3108313" cy="317897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关键点缺失 &gt; 50%，导致几何解算发散。</a:t>
            </a:r>
            <a:endParaRPr lang="en-US" sz="835" dirty="0"/>
          </a:p>
        </p:txBody>
      </p:sp>
      <p:sp>
        <p:nvSpPr>
          <p:cNvPr id="29" name="Text 22"/>
          <p:cNvSpPr/>
          <p:nvPr/>
        </p:nvSpPr>
        <p:spPr>
          <a:xfrm>
            <a:off x="4403145" y="2093119"/>
            <a:ext cx="61972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HDR 过曝光</a:t>
            </a:r>
            <a:endParaRPr lang="en-US" sz="785" dirty="0"/>
          </a:p>
        </p:txBody>
      </p:sp>
      <p:sp>
        <p:nvSpPr>
          <p:cNvPr id="30" name="Text 23"/>
          <p:cNvSpPr/>
          <p:nvPr/>
        </p:nvSpPr>
        <p:spPr>
          <a:xfrm>
            <a:off x="5464187" y="2010966"/>
            <a:ext cx="3108313" cy="321469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边缘特征消失，影响 2D 关键点回归精度。</a:t>
            </a:r>
            <a:endParaRPr lang="en-US" sz="835" dirty="0"/>
          </a:p>
        </p:txBody>
      </p:sp>
      <p:sp>
        <p:nvSpPr>
          <p:cNvPr id="31" name="Text 24"/>
          <p:cNvSpPr/>
          <p:nvPr/>
        </p:nvSpPr>
        <p:spPr>
          <a:xfrm>
            <a:off x="4403145" y="2414588"/>
            <a:ext cx="68580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单目投影模糊</a:t>
            </a:r>
            <a:endParaRPr lang="en-US" sz="785" dirty="0"/>
          </a:p>
        </p:txBody>
      </p:sp>
      <p:sp>
        <p:nvSpPr>
          <p:cNvPr id="32" name="Text 25"/>
          <p:cNvSpPr/>
          <p:nvPr/>
        </p:nvSpPr>
        <p:spPr>
          <a:xfrm>
            <a:off x="5464187" y="2332434"/>
            <a:ext cx="3108313" cy="321469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深度轴（Z轴）固有的尺度不确定性。</a:t>
            </a:r>
            <a:endParaRPr lang="en-US" sz="835" dirty="0"/>
          </a:p>
        </p:txBody>
      </p:sp>
      <p:sp>
        <p:nvSpPr>
          <p:cNvPr id="33" name="Text 26"/>
          <p:cNvSpPr/>
          <p:nvPr/>
        </p:nvSpPr>
        <p:spPr>
          <a:xfrm>
            <a:off x="4403145" y="2736056"/>
            <a:ext cx="68580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非结构化背景</a:t>
            </a:r>
            <a:endParaRPr lang="en-US" sz="785" dirty="0"/>
          </a:p>
        </p:txBody>
      </p:sp>
      <p:sp>
        <p:nvSpPr>
          <p:cNvPr id="34" name="Text 27"/>
          <p:cNvSpPr/>
          <p:nvPr/>
        </p:nvSpPr>
        <p:spPr>
          <a:xfrm>
            <a:off x="5464187" y="2653903"/>
            <a:ext cx="3108313" cy="321469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杂草干扰导致置信度预测出现假阳性。</a:t>
            </a:r>
            <a:endParaRPr lang="en-US" sz="835" dirty="0"/>
          </a:p>
        </p:txBody>
      </p:sp>
      <p:sp>
        <p:nvSpPr>
          <p:cNvPr id="35" name="Shape 28"/>
          <p:cNvSpPr/>
          <p:nvPr/>
        </p:nvSpPr>
        <p:spPr>
          <a:xfrm>
            <a:off x="4317420" y="3093244"/>
            <a:ext cx="4255080" cy="850106"/>
          </a:xfrm>
          <a:prstGeom prst="rect">
            <a:avLst/>
          </a:prstGeom>
          <a:solidFill>
            <a:srgbClr val="F39C12"/>
          </a:solidFill>
        </p:spPr>
      </p:sp>
      <p:sp>
        <p:nvSpPr>
          <p:cNvPr id="36" name="Text 29"/>
          <p:cNvSpPr/>
          <p:nvPr/>
        </p:nvSpPr>
        <p:spPr>
          <a:xfrm>
            <a:off x="4403145" y="3178969"/>
            <a:ext cx="4083630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阶段性结论</a:t>
            </a:r>
            <a:endParaRPr lang="en-US" sz="1090" dirty="0"/>
          </a:p>
        </p:txBody>
      </p:sp>
      <p:sp>
        <p:nvSpPr>
          <p:cNvPr id="37" name="Text 30"/>
          <p:cNvSpPr/>
          <p:nvPr/>
        </p:nvSpPr>
        <p:spPr>
          <a:xfrm>
            <a:off x="4403145" y="3471863"/>
            <a:ext cx="4083630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引入 Transformer 建立的长程依赖有效补偿了部分遮挡带来的特征缺失，但单目深度模糊仍需通过先验模型进一步优化。</a:t>
            </a:r>
            <a:endParaRPr lang="en-US" sz="940" dirty="0"/>
          </a:p>
        </p:txBody>
      </p:sp>
      <p:pic>
        <p:nvPicPr>
          <p:cNvPr id="39" name="图片 38" descr="loss_curve_optimiz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235" y="3383915"/>
            <a:ext cx="3420745" cy="1656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14388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357188"/>
            <a:ext cx="1379220" cy="46926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zh-CN" altLang="en-US" sz="1810" dirty="0"/>
              <a:t>消融实验</a:t>
            </a:r>
            <a:r>
              <a:rPr lang="zh-CN" altLang="en-US" sz="1810" dirty="0"/>
              <a:t>结果</a:t>
            </a:r>
            <a:endParaRPr lang="zh-CN" alt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571500" y="957263"/>
            <a:ext cx="354589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训练指标与改进效果</a:t>
            </a:r>
            <a:endParaRPr lang="en-US" sz="985" dirty="0"/>
          </a:p>
        </p:txBody>
      </p:sp>
      <p:sp>
        <p:nvSpPr>
          <p:cNvPr id="7" name="Text 4"/>
          <p:cNvSpPr/>
          <p:nvPr/>
        </p:nvSpPr>
        <p:spPr>
          <a:xfrm>
            <a:off x="571500" y="1214438"/>
            <a:ext cx="3545895" cy="300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模型收敛与精度提升</a:t>
            </a:r>
            <a:endParaRPr lang="en-US" sz="1395" dirty="0"/>
          </a:p>
        </p:txBody>
      </p:sp>
      <p:sp>
        <p:nvSpPr>
          <p:cNvPr id="8" name="Text 5"/>
          <p:cNvSpPr/>
          <p:nvPr/>
        </p:nvSpPr>
        <p:spPr>
          <a:xfrm>
            <a:off x="571500" y="1614488"/>
            <a:ext cx="3545895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在 Straw6D 数据集上进行了 300 Epoch 的深度训练，模型表现出良好的收敛特性与泛化能力。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571500" y="2125935"/>
            <a:ext cx="3545895" cy="1171575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10" name="Text 7"/>
          <p:cNvSpPr/>
          <p:nvPr/>
        </p:nvSpPr>
        <p:spPr>
          <a:xfrm>
            <a:off x="657225" y="2211660"/>
            <a:ext cx="3374445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核心量化成果</a:t>
            </a:r>
            <a:endParaRPr lang="en-US" sz="109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2538487"/>
            <a:ext cx="128588" cy="128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1550" y="2513484"/>
            <a:ext cx="551855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Avg Loss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1523405" y="2513484"/>
            <a:ext cx="710803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稳定收敛于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2234208" y="2513484"/>
            <a:ext cx="257175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6.47</a:t>
            </a:r>
            <a:endParaRPr lang="en-US" sz="885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774231"/>
            <a:ext cx="96441" cy="128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9403" y="2749228"/>
            <a:ext cx="1191220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验证集位姿误差下降</a:t>
            </a:r>
            <a:endParaRPr lang="en-US" sz="940" dirty="0"/>
          </a:p>
        </p:txBody>
      </p:sp>
      <p:sp>
        <p:nvSpPr>
          <p:cNvPr id="17" name="Text 12"/>
          <p:cNvSpPr/>
          <p:nvPr/>
        </p:nvSpPr>
        <p:spPr>
          <a:xfrm>
            <a:off x="2130623" y="2749228"/>
            <a:ext cx="373261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12.5%</a:t>
            </a:r>
            <a:endParaRPr lang="en-US" sz="885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009974"/>
            <a:ext cx="96441" cy="1285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9403" y="2984971"/>
            <a:ext cx="1543050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推理速度满足实时采摘需求</a:t>
            </a:r>
            <a:endParaRPr lang="en-US" sz="94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83235"/>
            <a:ext cx="3545086" cy="107156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17420" y="957263"/>
            <a:ext cx="4255080" cy="300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典型误差源归因分析</a:t>
            </a:r>
            <a:endParaRPr lang="en-US" sz="1395" dirty="0"/>
          </a:p>
        </p:txBody>
      </p:sp>
      <p:sp>
        <p:nvSpPr>
          <p:cNvPr id="22" name="Shape 15"/>
          <p:cNvSpPr/>
          <p:nvPr/>
        </p:nvSpPr>
        <p:spPr>
          <a:xfrm>
            <a:off x="4317420" y="1357313"/>
            <a:ext cx="4255080" cy="162163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Shape 16"/>
          <p:cNvSpPr/>
          <p:nvPr/>
        </p:nvSpPr>
        <p:spPr>
          <a:xfrm>
            <a:off x="4317420" y="1357313"/>
            <a:ext cx="1146767" cy="335756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4" name="Text 17"/>
          <p:cNvSpPr/>
          <p:nvPr/>
        </p:nvSpPr>
        <p:spPr>
          <a:xfrm>
            <a:off x="4317420" y="1357313"/>
            <a:ext cx="1146767" cy="335756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误差来源</a:t>
            </a:r>
            <a:endParaRPr lang="en-US" sz="885" dirty="0"/>
          </a:p>
        </p:txBody>
      </p:sp>
      <p:sp>
        <p:nvSpPr>
          <p:cNvPr id="25" name="Shape 18"/>
          <p:cNvSpPr/>
          <p:nvPr/>
        </p:nvSpPr>
        <p:spPr>
          <a:xfrm>
            <a:off x="5464187" y="1357313"/>
            <a:ext cx="3108313" cy="335756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6" name="Text 19"/>
          <p:cNvSpPr/>
          <p:nvPr/>
        </p:nvSpPr>
        <p:spPr>
          <a:xfrm>
            <a:off x="5464187" y="1357313"/>
            <a:ext cx="3108313" cy="335756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表现形式与影响</a:t>
            </a:r>
            <a:endParaRPr lang="en-US" sz="885" dirty="0"/>
          </a:p>
        </p:txBody>
      </p:sp>
      <p:sp>
        <p:nvSpPr>
          <p:cNvPr id="27" name="Text 20"/>
          <p:cNvSpPr/>
          <p:nvPr/>
        </p:nvSpPr>
        <p:spPr>
          <a:xfrm>
            <a:off x="4403145" y="1771650"/>
            <a:ext cx="45720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极端遮挡</a:t>
            </a:r>
            <a:endParaRPr lang="en-US" sz="785" dirty="0"/>
          </a:p>
        </p:txBody>
      </p:sp>
      <p:sp>
        <p:nvSpPr>
          <p:cNvPr id="28" name="Text 21"/>
          <p:cNvSpPr/>
          <p:nvPr/>
        </p:nvSpPr>
        <p:spPr>
          <a:xfrm>
            <a:off x="5464187" y="1693069"/>
            <a:ext cx="3108313" cy="317897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关键点缺失 &gt; 50%，导致几何解算发散。</a:t>
            </a:r>
            <a:endParaRPr lang="en-US" sz="835" dirty="0"/>
          </a:p>
        </p:txBody>
      </p:sp>
      <p:sp>
        <p:nvSpPr>
          <p:cNvPr id="29" name="Text 22"/>
          <p:cNvSpPr/>
          <p:nvPr/>
        </p:nvSpPr>
        <p:spPr>
          <a:xfrm>
            <a:off x="4403145" y="2093119"/>
            <a:ext cx="61972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HDR 过曝光</a:t>
            </a:r>
            <a:endParaRPr lang="en-US" sz="785" dirty="0"/>
          </a:p>
        </p:txBody>
      </p:sp>
      <p:sp>
        <p:nvSpPr>
          <p:cNvPr id="30" name="Text 23"/>
          <p:cNvSpPr/>
          <p:nvPr/>
        </p:nvSpPr>
        <p:spPr>
          <a:xfrm>
            <a:off x="5464187" y="2010966"/>
            <a:ext cx="3108313" cy="321469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边缘特征消失，影响 2D 关键点回归精度。</a:t>
            </a:r>
            <a:endParaRPr lang="en-US" sz="835" dirty="0"/>
          </a:p>
        </p:txBody>
      </p:sp>
      <p:sp>
        <p:nvSpPr>
          <p:cNvPr id="31" name="Text 24"/>
          <p:cNvSpPr/>
          <p:nvPr/>
        </p:nvSpPr>
        <p:spPr>
          <a:xfrm>
            <a:off x="4403145" y="2414588"/>
            <a:ext cx="68580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单目投影模糊</a:t>
            </a:r>
            <a:endParaRPr lang="en-US" sz="785" dirty="0"/>
          </a:p>
        </p:txBody>
      </p:sp>
      <p:sp>
        <p:nvSpPr>
          <p:cNvPr id="32" name="Text 25"/>
          <p:cNvSpPr/>
          <p:nvPr/>
        </p:nvSpPr>
        <p:spPr>
          <a:xfrm>
            <a:off x="5464187" y="2332434"/>
            <a:ext cx="3108313" cy="321469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深度轴（Z轴）固有的尺度不确定性。</a:t>
            </a:r>
            <a:endParaRPr lang="en-US" sz="835" dirty="0"/>
          </a:p>
        </p:txBody>
      </p:sp>
      <p:sp>
        <p:nvSpPr>
          <p:cNvPr id="33" name="Text 26"/>
          <p:cNvSpPr/>
          <p:nvPr/>
        </p:nvSpPr>
        <p:spPr>
          <a:xfrm>
            <a:off x="4403145" y="2736056"/>
            <a:ext cx="68580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非结构化背景</a:t>
            </a:r>
            <a:endParaRPr lang="en-US" sz="785" dirty="0"/>
          </a:p>
        </p:txBody>
      </p:sp>
      <p:sp>
        <p:nvSpPr>
          <p:cNvPr id="34" name="Text 27"/>
          <p:cNvSpPr/>
          <p:nvPr/>
        </p:nvSpPr>
        <p:spPr>
          <a:xfrm>
            <a:off x="5464187" y="2653903"/>
            <a:ext cx="3108313" cy="321469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杂草干扰导致置信度预测出现假阳性。</a:t>
            </a:r>
            <a:endParaRPr lang="en-US" sz="835" dirty="0"/>
          </a:p>
        </p:txBody>
      </p:sp>
      <p:sp>
        <p:nvSpPr>
          <p:cNvPr id="35" name="Shape 28"/>
          <p:cNvSpPr/>
          <p:nvPr/>
        </p:nvSpPr>
        <p:spPr>
          <a:xfrm>
            <a:off x="4317420" y="3093244"/>
            <a:ext cx="4255080" cy="850106"/>
          </a:xfrm>
          <a:prstGeom prst="rect">
            <a:avLst/>
          </a:prstGeom>
          <a:solidFill>
            <a:srgbClr val="F39C12"/>
          </a:solidFill>
        </p:spPr>
      </p:sp>
      <p:sp>
        <p:nvSpPr>
          <p:cNvPr id="36" name="Text 29"/>
          <p:cNvSpPr/>
          <p:nvPr/>
        </p:nvSpPr>
        <p:spPr>
          <a:xfrm>
            <a:off x="4403145" y="3178969"/>
            <a:ext cx="4083630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阶段性结论</a:t>
            </a:r>
            <a:endParaRPr lang="en-US" sz="1090" dirty="0"/>
          </a:p>
        </p:txBody>
      </p:sp>
      <p:sp>
        <p:nvSpPr>
          <p:cNvPr id="37" name="Text 30"/>
          <p:cNvSpPr/>
          <p:nvPr/>
        </p:nvSpPr>
        <p:spPr>
          <a:xfrm>
            <a:off x="4403145" y="3471863"/>
            <a:ext cx="4083630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引入 Transformer 建立的长程依赖有效补偿了部分遮挡带来的特征缺失，但单目深度模糊仍需通过先验模型进一步优化。</a:t>
            </a:r>
            <a:endParaRPr lang="en-US" sz="940" dirty="0"/>
          </a:p>
        </p:txBody>
      </p:sp>
      <p:pic>
        <p:nvPicPr>
          <p:cNvPr id="39" name="图片 38" descr="loss_curve_optimiz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235" y="3383915"/>
            <a:ext cx="3420745" cy="1656080"/>
          </a:xfrm>
          <a:prstGeom prst="rect">
            <a:avLst/>
          </a:prstGeom>
        </p:spPr>
      </p:pic>
      <p:pic>
        <p:nvPicPr>
          <p:cNvPr id="38" name="图片 37"/>
          <p:cNvPicPr/>
          <p:nvPr/>
        </p:nvPicPr>
        <p:blipFill>
          <a:blip r:embed="rId7"/>
          <a:srcRect t="6855"/>
          <a:stretch>
            <a:fillRect/>
          </a:stretch>
        </p:blipFill>
        <p:spPr>
          <a:xfrm>
            <a:off x="370840" y="843280"/>
            <a:ext cx="8546465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14388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357188"/>
            <a:ext cx="1379220" cy="46926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zh-CN" altLang="en-US" sz="1810" dirty="0"/>
              <a:t>对</a:t>
            </a:r>
            <a:r>
              <a:rPr lang="zh-CN" altLang="en-US" sz="1810" dirty="0"/>
              <a:t>比实验</a:t>
            </a:r>
            <a:r>
              <a:rPr lang="zh-CN" altLang="en-US" sz="1810" dirty="0"/>
              <a:t>结果</a:t>
            </a:r>
            <a:endParaRPr lang="zh-CN" alt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571500" y="957263"/>
            <a:ext cx="354589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训练指标与改进效果</a:t>
            </a:r>
            <a:endParaRPr lang="en-US" sz="985" dirty="0"/>
          </a:p>
        </p:txBody>
      </p:sp>
      <p:sp>
        <p:nvSpPr>
          <p:cNvPr id="7" name="Text 4"/>
          <p:cNvSpPr/>
          <p:nvPr/>
        </p:nvSpPr>
        <p:spPr>
          <a:xfrm>
            <a:off x="571500" y="1214438"/>
            <a:ext cx="3545895" cy="300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模型收敛与精度提升</a:t>
            </a:r>
            <a:endParaRPr lang="en-US" sz="1395" dirty="0"/>
          </a:p>
        </p:txBody>
      </p:sp>
      <p:sp>
        <p:nvSpPr>
          <p:cNvPr id="8" name="Text 5"/>
          <p:cNvSpPr/>
          <p:nvPr/>
        </p:nvSpPr>
        <p:spPr>
          <a:xfrm>
            <a:off x="571500" y="1614488"/>
            <a:ext cx="3545895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在 Straw6D 数据集上进行了 300 Epoch 的深度训练，模型表现出良好的收敛特性与泛化能力。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571500" y="2125935"/>
            <a:ext cx="3545895" cy="1171575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10" name="Text 7"/>
          <p:cNvSpPr/>
          <p:nvPr/>
        </p:nvSpPr>
        <p:spPr>
          <a:xfrm>
            <a:off x="657225" y="2211660"/>
            <a:ext cx="3374445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核心量化成果</a:t>
            </a:r>
            <a:endParaRPr lang="en-US" sz="109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2538487"/>
            <a:ext cx="128588" cy="128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1550" y="2513484"/>
            <a:ext cx="551855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Avg Loss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1523405" y="2513484"/>
            <a:ext cx="710803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稳定收敛于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2234208" y="2513484"/>
            <a:ext cx="257175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6.47</a:t>
            </a:r>
            <a:endParaRPr lang="en-US" sz="885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774231"/>
            <a:ext cx="96441" cy="128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9403" y="2749228"/>
            <a:ext cx="1191220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验证集位姿误差下降</a:t>
            </a:r>
            <a:endParaRPr lang="en-US" sz="940" dirty="0"/>
          </a:p>
        </p:txBody>
      </p:sp>
      <p:sp>
        <p:nvSpPr>
          <p:cNvPr id="17" name="Text 12"/>
          <p:cNvSpPr/>
          <p:nvPr/>
        </p:nvSpPr>
        <p:spPr>
          <a:xfrm>
            <a:off x="2130623" y="2749228"/>
            <a:ext cx="373261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12.5%</a:t>
            </a:r>
            <a:endParaRPr lang="en-US" sz="885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009974"/>
            <a:ext cx="96441" cy="1285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9403" y="2984971"/>
            <a:ext cx="1543050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推理速度满足实时采摘需求</a:t>
            </a:r>
            <a:endParaRPr lang="en-US" sz="94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83235"/>
            <a:ext cx="3545086" cy="107156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17420" y="957263"/>
            <a:ext cx="4255080" cy="300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典型误差源归因分析</a:t>
            </a:r>
            <a:endParaRPr lang="en-US" sz="1395" dirty="0"/>
          </a:p>
        </p:txBody>
      </p:sp>
      <p:sp>
        <p:nvSpPr>
          <p:cNvPr id="22" name="Shape 15"/>
          <p:cNvSpPr/>
          <p:nvPr/>
        </p:nvSpPr>
        <p:spPr>
          <a:xfrm>
            <a:off x="4317420" y="1357313"/>
            <a:ext cx="4255080" cy="162163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Shape 16"/>
          <p:cNvSpPr/>
          <p:nvPr/>
        </p:nvSpPr>
        <p:spPr>
          <a:xfrm>
            <a:off x="4317420" y="1357313"/>
            <a:ext cx="1146767" cy="335756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4" name="Text 17"/>
          <p:cNvSpPr/>
          <p:nvPr/>
        </p:nvSpPr>
        <p:spPr>
          <a:xfrm>
            <a:off x="4317420" y="1357313"/>
            <a:ext cx="1146767" cy="335756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误差来源</a:t>
            </a:r>
            <a:endParaRPr lang="en-US" sz="885" dirty="0"/>
          </a:p>
        </p:txBody>
      </p:sp>
      <p:sp>
        <p:nvSpPr>
          <p:cNvPr id="25" name="Shape 18"/>
          <p:cNvSpPr/>
          <p:nvPr/>
        </p:nvSpPr>
        <p:spPr>
          <a:xfrm>
            <a:off x="5464187" y="1357313"/>
            <a:ext cx="3108313" cy="335756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6" name="Text 19"/>
          <p:cNvSpPr/>
          <p:nvPr/>
        </p:nvSpPr>
        <p:spPr>
          <a:xfrm>
            <a:off x="5464187" y="1357313"/>
            <a:ext cx="3108313" cy="335756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表现形式与影响</a:t>
            </a:r>
            <a:endParaRPr lang="en-US" sz="885" dirty="0"/>
          </a:p>
        </p:txBody>
      </p:sp>
      <p:sp>
        <p:nvSpPr>
          <p:cNvPr id="27" name="Text 20"/>
          <p:cNvSpPr/>
          <p:nvPr/>
        </p:nvSpPr>
        <p:spPr>
          <a:xfrm>
            <a:off x="4403145" y="1771650"/>
            <a:ext cx="45720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极端遮挡</a:t>
            </a:r>
            <a:endParaRPr lang="en-US" sz="785" dirty="0"/>
          </a:p>
        </p:txBody>
      </p:sp>
      <p:sp>
        <p:nvSpPr>
          <p:cNvPr id="28" name="Text 21"/>
          <p:cNvSpPr/>
          <p:nvPr/>
        </p:nvSpPr>
        <p:spPr>
          <a:xfrm>
            <a:off x="5464187" y="1693069"/>
            <a:ext cx="3108313" cy="317897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关键点缺失 &gt; 50%，导致几何解算发散。</a:t>
            </a:r>
            <a:endParaRPr lang="en-US" sz="835" dirty="0"/>
          </a:p>
        </p:txBody>
      </p:sp>
      <p:sp>
        <p:nvSpPr>
          <p:cNvPr id="29" name="Text 22"/>
          <p:cNvSpPr/>
          <p:nvPr/>
        </p:nvSpPr>
        <p:spPr>
          <a:xfrm>
            <a:off x="4403145" y="2093119"/>
            <a:ext cx="61972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HDR 过曝光</a:t>
            </a:r>
            <a:endParaRPr lang="en-US" sz="785" dirty="0"/>
          </a:p>
        </p:txBody>
      </p:sp>
      <p:sp>
        <p:nvSpPr>
          <p:cNvPr id="30" name="Text 23"/>
          <p:cNvSpPr/>
          <p:nvPr/>
        </p:nvSpPr>
        <p:spPr>
          <a:xfrm>
            <a:off x="5464187" y="2010966"/>
            <a:ext cx="3108313" cy="321469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边缘特征消失，影响 2D 关键点回归精度。</a:t>
            </a:r>
            <a:endParaRPr lang="en-US" sz="835" dirty="0"/>
          </a:p>
        </p:txBody>
      </p:sp>
      <p:sp>
        <p:nvSpPr>
          <p:cNvPr id="31" name="Text 24"/>
          <p:cNvSpPr/>
          <p:nvPr/>
        </p:nvSpPr>
        <p:spPr>
          <a:xfrm>
            <a:off x="4403145" y="2414588"/>
            <a:ext cx="68580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单目投影模糊</a:t>
            </a:r>
            <a:endParaRPr lang="en-US" sz="785" dirty="0"/>
          </a:p>
        </p:txBody>
      </p:sp>
      <p:sp>
        <p:nvSpPr>
          <p:cNvPr id="32" name="Text 25"/>
          <p:cNvSpPr/>
          <p:nvPr/>
        </p:nvSpPr>
        <p:spPr>
          <a:xfrm>
            <a:off x="5464187" y="2332434"/>
            <a:ext cx="3108313" cy="321469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深度轴（Z轴）固有的尺度不确定性。</a:t>
            </a:r>
            <a:endParaRPr lang="en-US" sz="835" dirty="0"/>
          </a:p>
        </p:txBody>
      </p:sp>
      <p:sp>
        <p:nvSpPr>
          <p:cNvPr id="33" name="Text 26"/>
          <p:cNvSpPr/>
          <p:nvPr/>
        </p:nvSpPr>
        <p:spPr>
          <a:xfrm>
            <a:off x="4403145" y="2736056"/>
            <a:ext cx="68580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非结构化背景</a:t>
            </a:r>
            <a:endParaRPr lang="en-US" sz="785" dirty="0"/>
          </a:p>
        </p:txBody>
      </p:sp>
      <p:sp>
        <p:nvSpPr>
          <p:cNvPr id="34" name="Text 27"/>
          <p:cNvSpPr/>
          <p:nvPr/>
        </p:nvSpPr>
        <p:spPr>
          <a:xfrm>
            <a:off x="5464187" y="2653903"/>
            <a:ext cx="3108313" cy="321469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杂草干扰导致置信度预测出现假阳性。</a:t>
            </a:r>
            <a:endParaRPr lang="en-US" sz="835" dirty="0"/>
          </a:p>
        </p:txBody>
      </p:sp>
      <p:sp>
        <p:nvSpPr>
          <p:cNvPr id="35" name="Shape 28"/>
          <p:cNvSpPr/>
          <p:nvPr/>
        </p:nvSpPr>
        <p:spPr>
          <a:xfrm>
            <a:off x="4317420" y="3093244"/>
            <a:ext cx="4255080" cy="850106"/>
          </a:xfrm>
          <a:prstGeom prst="rect">
            <a:avLst/>
          </a:prstGeom>
          <a:solidFill>
            <a:srgbClr val="F39C12"/>
          </a:solidFill>
        </p:spPr>
      </p:sp>
      <p:sp>
        <p:nvSpPr>
          <p:cNvPr id="36" name="Text 29"/>
          <p:cNvSpPr/>
          <p:nvPr/>
        </p:nvSpPr>
        <p:spPr>
          <a:xfrm>
            <a:off x="4403145" y="3178969"/>
            <a:ext cx="4083630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阶段性结论</a:t>
            </a:r>
            <a:endParaRPr lang="en-US" sz="1090" dirty="0"/>
          </a:p>
        </p:txBody>
      </p:sp>
      <p:sp>
        <p:nvSpPr>
          <p:cNvPr id="37" name="Text 30"/>
          <p:cNvSpPr/>
          <p:nvPr/>
        </p:nvSpPr>
        <p:spPr>
          <a:xfrm>
            <a:off x="4403145" y="3471863"/>
            <a:ext cx="4083630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引入 Transformer 建立的长程依赖有效补偿了部分遮挡带来的特征缺失，但单目深度模糊仍需通过先验模型进一步优化。</a:t>
            </a:r>
            <a:endParaRPr lang="en-US" sz="940" dirty="0"/>
          </a:p>
        </p:txBody>
      </p:sp>
      <p:pic>
        <p:nvPicPr>
          <p:cNvPr id="39" name="图片 38" descr="loss_curve_optimiz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235" y="3383915"/>
            <a:ext cx="3420745" cy="1656080"/>
          </a:xfrm>
          <a:prstGeom prst="rect">
            <a:avLst/>
          </a:prstGeom>
        </p:spPr>
      </p:pic>
      <p:pic>
        <p:nvPicPr>
          <p:cNvPr id="40" name="图片 39"/>
          <p:cNvPicPr/>
          <p:nvPr/>
        </p:nvPicPr>
        <p:blipFill>
          <a:blip r:embed="rId7"/>
          <a:srcRect t="7778"/>
          <a:stretch>
            <a:fillRect/>
          </a:stretch>
        </p:blipFill>
        <p:spPr>
          <a:xfrm>
            <a:off x="180975" y="843280"/>
            <a:ext cx="8782050" cy="41852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14388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48577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1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前后端分离系统集成方案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571500" y="957263"/>
            <a:ext cx="8001000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系统采用工业级前后端分离架构，确保了感知算法的高效推理与交互界面的流畅响应。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257300"/>
            <a:ext cx="3857625" cy="400050"/>
          </a:xfrm>
          <a:prstGeom prst="rect">
            <a:avLst/>
          </a:prstGeom>
          <a:solidFill>
            <a:srgbClr val="5DADE2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977" y="1373386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90427" y="1339453"/>
            <a:ext cx="1191220" cy="2339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后端 (FastAPI)</a:t>
            </a:r>
            <a:endParaRPr lang="en-US" sz="1195" dirty="0"/>
          </a:p>
        </p:txBody>
      </p:sp>
      <p:sp>
        <p:nvSpPr>
          <p:cNvPr id="10" name="Shape 6"/>
          <p:cNvSpPr/>
          <p:nvPr/>
        </p:nvSpPr>
        <p:spPr>
          <a:xfrm>
            <a:off x="571500" y="1657350"/>
            <a:ext cx="3857625" cy="290173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7"/>
          <p:cNvSpPr/>
          <p:nvPr/>
        </p:nvSpPr>
        <p:spPr>
          <a:xfrm>
            <a:off x="4421981" y="1657350"/>
            <a:ext cx="7144" cy="290173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2" name="Shape 8"/>
          <p:cNvSpPr/>
          <p:nvPr/>
        </p:nvSpPr>
        <p:spPr>
          <a:xfrm>
            <a:off x="571500" y="4551936"/>
            <a:ext cx="3857625" cy="7144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3" name="Shape 9"/>
          <p:cNvSpPr/>
          <p:nvPr/>
        </p:nvSpPr>
        <p:spPr>
          <a:xfrm>
            <a:off x="571500" y="1657350"/>
            <a:ext cx="7144" cy="290173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4" name="Text 10"/>
          <p:cNvSpPr/>
          <p:nvPr/>
        </p:nvSpPr>
        <p:spPr>
          <a:xfrm>
            <a:off x="657225" y="1743075"/>
            <a:ext cx="3686175" cy="265742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高性能异步推理引擎，负责核心计算任务。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792956" y="2094542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模型加载与管理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792956" y="2323142"/>
            <a:ext cx="3550444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动态加载 `darknet_strawberry_checkpoint.pth` 权重，支持多模型热切换。</a:t>
            </a:r>
            <a:endParaRPr lang="en-US" sz="835" dirty="0"/>
          </a:p>
        </p:txBody>
      </p:sp>
      <p:sp>
        <p:nvSpPr>
          <p:cNvPr id="17" name="Text 13"/>
          <p:cNvSpPr/>
          <p:nvPr/>
        </p:nvSpPr>
        <p:spPr>
          <a:xfrm>
            <a:off x="792956" y="2700310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异步推理流水线</a:t>
            </a:r>
            <a:endParaRPr lang="en-US" sz="885" dirty="0"/>
          </a:p>
        </p:txBody>
      </p:sp>
      <p:sp>
        <p:nvSpPr>
          <p:cNvPr id="18" name="Text 14"/>
          <p:cNvSpPr/>
          <p:nvPr/>
        </p:nvSpPr>
        <p:spPr>
          <a:xfrm>
            <a:off x="792956" y="2928910"/>
            <a:ext cx="3550444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基于 FastAPI 的异步特性，实现图像预处理与 CNN 推理的并发执行。</a:t>
            </a:r>
            <a:endParaRPr lang="en-US" sz="835" dirty="0"/>
          </a:p>
        </p:txBody>
      </p:sp>
      <p:sp>
        <p:nvSpPr>
          <p:cNvPr id="19" name="Text 15"/>
          <p:cNvSpPr/>
          <p:nvPr/>
        </p:nvSpPr>
        <p:spPr>
          <a:xfrm>
            <a:off x="792956" y="3146068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几何解算引擎</a:t>
            </a:r>
            <a:endParaRPr lang="en-US" sz="885" dirty="0"/>
          </a:p>
        </p:txBody>
      </p:sp>
      <p:sp>
        <p:nvSpPr>
          <p:cNvPr id="20" name="Text 16"/>
          <p:cNvSpPr/>
          <p:nvPr/>
        </p:nvSpPr>
        <p:spPr>
          <a:xfrm>
            <a:off x="792956" y="3374668"/>
            <a:ext cx="3550444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集成 EPnP 算法，将 2D 关键点实时转换为 3D 旋转（R）和平移（T）。</a:t>
            </a:r>
            <a:endParaRPr lang="en-US" sz="835" dirty="0"/>
          </a:p>
        </p:txBody>
      </p:sp>
      <p:sp>
        <p:nvSpPr>
          <p:cNvPr id="21" name="Shape 17"/>
          <p:cNvSpPr/>
          <p:nvPr/>
        </p:nvSpPr>
        <p:spPr>
          <a:xfrm>
            <a:off x="657225" y="3780411"/>
            <a:ext cx="3686175" cy="685800"/>
          </a:xfrm>
          <a:prstGeom prst="rect">
            <a:avLst/>
          </a:prstGeom>
          <a:solidFill>
            <a:srgbClr val="F5F5DC"/>
          </a:solidFill>
          <a:ln w="9144">
            <a:solidFill>
              <a:srgbClr val="E67E22"/>
            </a:solidFill>
            <a:prstDash val="dash"/>
          </a:ln>
        </p:spPr>
      </p:sp>
      <p:sp>
        <p:nvSpPr>
          <p:cNvPr id="22" name="Text 18"/>
          <p:cNvSpPr/>
          <p:nvPr/>
        </p:nvSpPr>
        <p:spPr>
          <a:xfrm>
            <a:off x="728663" y="3851849"/>
            <a:ext cx="354330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技术亮点：</a:t>
            </a:r>
            <a:endParaRPr lang="en-US" sz="785" dirty="0"/>
          </a:p>
        </p:txBody>
      </p:sp>
      <p:sp>
        <p:nvSpPr>
          <p:cNvPr id="23" name="Text 19"/>
          <p:cNvSpPr/>
          <p:nvPr/>
        </p:nvSpPr>
        <p:spPr>
          <a:xfrm>
            <a:off x="728663" y="4080449"/>
            <a:ext cx="35433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通过异步 IO 极大降低了单帧处理的等待时间，确保了采摘机器人的实时反馈。</a:t>
            </a:r>
            <a:endParaRPr lang="en-US" sz="780" dirty="0"/>
          </a:p>
        </p:txBody>
      </p:sp>
      <p:sp>
        <p:nvSpPr>
          <p:cNvPr id="24" name="Shape 20"/>
          <p:cNvSpPr/>
          <p:nvPr/>
        </p:nvSpPr>
        <p:spPr>
          <a:xfrm>
            <a:off x="4714875" y="1257300"/>
            <a:ext cx="3857625" cy="400050"/>
          </a:xfrm>
          <a:prstGeom prst="rect">
            <a:avLst/>
          </a:prstGeom>
          <a:solidFill>
            <a:srgbClr val="5DADE2"/>
          </a:solidFill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823" y="1373386"/>
            <a:ext cx="192881" cy="17145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09705" y="1339453"/>
            <a:ext cx="1060847" cy="2339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前端 (Vue.js)</a:t>
            </a:r>
            <a:endParaRPr lang="en-US" sz="1195" dirty="0"/>
          </a:p>
        </p:txBody>
      </p:sp>
      <p:sp>
        <p:nvSpPr>
          <p:cNvPr id="27" name="Shape 22"/>
          <p:cNvSpPr/>
          <p:nvPr/>
        </p:nvSpPr>
        <p:spPr>
          <a:xfrm>
            <a:off x="4714875" y="1657350"/>
            <a:ext cx="3857625" cy="288029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Shape 23"/>
          <p:cNvSpPr/>
          <p:nvPr/>
        </p:nvSpPr>
        <p:spPr>
          <a:xfrm>
            <a:off x="8565356" y="1657350"/>
            <a:ext cx="7144" cy="2880299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9" name="Shape 24"/>
          <p:cNvSpPr/>
          <p:nvPr/>
        </p:nvSpPr>
        <p:spPr>
          <a:xfrm>
            <a:off x="4714875" y="4530505"/>
            <a:ext cx="3857625" cy="7144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30" name="Shape 25"/>
          <p:cNvSpPr/>
          <p:nvPr/>
        </p:nvSpPr>
        <p:spPr>
          <a:xfrm>
            <a:off x="4714875" y="1657350"/>
            <a:ext cx="7144" cy="2880299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31" name="Text 26"/>
          <p:cNvSpPr/>
          <p:nvPr/>
        </p:nvSpPr>
        <p:spPr>
          <a:xfrm>
            <a:off x="4800600" y="1743075"/>
            <a:ext cx="3686175" cy="265742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工业级交互控制台，提供直观的 3D 感知可视化。</a:t>
            </a:r>
            <a:endParaRPr lang="en-US" sz="885" dirty="0"/>
          </a:p>
        </p:txBody>
      </p:sp>
      <p:sp>
        <p:nvSpPr>
          <p:cNvPr id="32" name="Text 27"/>
          <p:cNvSpPr/>
          <p:nvPr/>
        </p:nvSpPr>
        <p:spPr>
          <a:xfrm>
            <a:off x="4936331" y="2094542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3D 边界框实时叠加</a:t>
            </a:r>
            <a:endParaRPr lang="en-US" sz="885" dirty="0"/>
          </a:p>
        </p:txBody>
      </p:sp>
      <p:sp>
        <p:nvSpPr>
          <p:cNvPr id="33" name="Text 28"/>
          <p:cNvSpPr/>
          <p:nvPr/>
        </p:nvSpPr>
        <p:spPr>
          <a:xfrm>
            <a:off x="4936331" y="2323142"/>
            <a:ext cx="3550444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在视频流上实时绘制 3D 投影框，直观展示草莓的位姿与尺寸。</a:t>
            </a:r>
            <a:endParaRPr lang="en-US" sz="835" dirty="0"/>
          </a:p>
        </p:txBody>
      </p:sp>
      <p:sp>
        <p:nvSpPr>
          <p:cNvPr id="34" name="Text 29"/>
          <p:cNvSpPr/>
          <p:nvPr/>
        </p:nvSpPr>
        <p:spPr>
          <a:xfrm>
            <a:off x="4936331" y="2540301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位姿遥测日志</a:t>
            </a:r>
            <a:endParaRPr lang="en-US" sz="885" dirty="0"/>
          </a:p>
        </p:txBody>
      </p:sp>
      <p:sp>
        <p:nvSpPr>
          <p:cNvPr id="35" name="Text 30"/>
          <p:cNvSpPr/>
          <p:nvPr/>
        </p:nvSpPr>
        <p:spPr>
          <a:xfrm>
            <a:off x="4936331" y="2768901"/>
            <a:ext cx="3550444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实时记录并显示目标的坐标、旋转角度及置信度数据流。</a:t>
            </a:r>
            <a:endParaRPr lang="en-US" sz="835" dirty="0"/>
          </a:p>
        </p:txBody>
      </p:sp>
      <p:sp>
        <p:nvSpPr>
          <p:cNvPr id="36" name="Text 31"/>
          <p:cNvSpPr/>
          <p:nvPr/>
        </p:nvSpPr>
        <p:spPr>
          <a:xfrm>
            <a:off x="4936331" y="2986060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参数动态调优</a:t>
            </a:r>
            <a:endParaRPr lang="en-US" sz="885" dirty="0"/>
          </a:p>
        </p:txBody>
      </p:sp>
      <p:sp>
        <p:nvSpPr>
          <p:cNvPr id="37" name="Text 32"/>
          <p:cNvSpPr/>
          <p:nvPr/>
        </p:nvSpPr>
        <p:spPr>
          <a:xfrm>
            <a:off x="4936331" y="3214660"/>
            <a:ext cx="3550444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提供可视化滑块，支持在线调整检测阈值与几何约束参数。</a:t>
            </a:r>
            <a:endParaRPr lang="en-US" sz="835" dirty="0"/>
          </a:p>
        </p:txBody>
      </p:sp>
      <p:sp>
        <p:nvSpPr>
          <p:cNvPr id="38" name="Shape 33"/>
          <p:cNvSpPr/>
          <p:nvPr/>
        </p:nvSpPr>
        <p:spPr>
          <a:xfrm>
            <a:off x="4800600" y="3460393"/>
            <a:ext cx="3686175" cy="535781"/>
          </a:xfrm>
          <a:prstGeom prst="rect">
            <a:avLst/>
          </a:prstGeom>
          <a:solidFill>
            <a:srgbClr val="F5F5DC"/>
          </a:solidFill>
          <a:ln w="9144">
            <a:solidFill>
              <a:srgbClr val="E67E22"/>
            </a:solidFill>
            <a:prstDash val="dash"/>
          </a:ln>
        </p:spPr>
      </p:sp>
      <p:sp>
        <p:nvSpPr>
          <p:cNvPr id="39" name="Text 34"/>
          <p:cNvSpPr/>
          <p:nvPr/>
        </p:nvSpPr>
        <p:spPr>
          <a:xfrm>
            <a:off x="4872038" y="3531831"/>
            <a:ext cx="354330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用户体验：</a:t>
            </a:r>
            <a:endParaRPr lang="en-US" sz="785" dirty="0"/>
          </a:p>
        </p:txBody>
      </p:sp>
      <p:sp>
        <p:nvSpPr>
          <p:cNvPr id="40" name="Text 35"/>
          <p:cNvSpPr/>
          <p:nvPr/>
        </p:nvSpPr>
        <p:spPr>
          <a:xfrm>
            <a:off x="4872038" y="3760431"/>
            <a:ext cx="3543300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响应式布局适配多种终端，支持在平板电脑上进行现场调试与监控。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14388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48577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1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前后端分离系统集成方案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571500" y="957263"/>
            <a:ext cx="8001000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系统采用工业级前后端分离架构，确保了感知算法的高效推理与交互界面的流畅响应。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257300"/>
            <a:ext cx="3857625" cy="400050"/>
          </a:xfrm>
          <a:prstGeom prst="rect">
            <a:avLst/>
          </a:prstGeom>
          <a:solidFill>
            <a:srgbClr val="5DADE2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977" y="1373386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90427" y="1339453"/>
            <a:ext cx="1191220" cy="2339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后端 (FastAPI)</a:t>
            </a:r>
            <a:endParaRPr lang="en-US" sz="1195" dirty="0"/>
          </a:p>
        </p:txBody>
      </p:sp>
      <p:sp>
        <p:nvSpPr>
          <p:cNvPr id="10" name="Shape 6"/>
          <p:cNvSpPr/>
          <p:nvPr/>
        </p:nvSpPr>
        <p:spPr>
          <a:xfrm>
            <a:off x="571500" y="1657350"/>
            <a:ext cx="3857625" cy="290173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7"/>
          <p:cNvSpPr/>
          <p:nvPr/>
        </p:nvSpPr>
        <p:spPr>
          <a:xfrm>
            <a:off x="4421981" y="1657350"/>
            <a:ext cx="7144" cy="290173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2" name="Shape 8"/>
          <p:cNvSpPr/>
          <p:nvPr/>
        </p:nvSpPr>
        <p:spPr>
          <a:xfrm>
            <a:off x="571500" y="4551936"/>
            <a:ext cx="3857625" cy="7144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3" name="Shape 9"/>
          <p:cNvSpPr/>
          <p:nvPr/>
        </p:nvSpPr>
        <p:spPr>
          <a:xfrm>
            <a:off x="571500" y="1657350"/>
            <a:ext cx="7144" cy="290173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4" name="Text 10"/>
          <p:cNvSpPr/>
          <p:nvPr/>
        </p:nvSpPr>
        <p:spPr>
          <a:xfrm>
            <a:off x="657225" y="1743075"/>
            <a:ext cx="3686175" cy="265742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高性能异步推理引擎，负责核心计算任务。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792956" y="2094542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模型加载与管理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792956" y="2323142"/>
            <a:ext cx="3550444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动态加载 `darknet_strawberry_checkpoint.pth` 权重，支持多模型热切换。</a:t>
            </a:r>
            <a:endParaRPr lang="en-US" sz="835" dirty="0"/>
          </a:p>
        </p:txBody>
      </p:sp>
      <p:sp>
        <p:nvSpPr>
          <p:cNvPr id="17" name="Text 13"/>
          <p:cNvSpPr/>
          <p:nvPr/>
        </p:nvSpPr>
        <p:spPr>
          <a:xfrm>
            <a:off x="792956" y="2700310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异步推理流水线</a:t>
            </a:r>
            <a:endParaRPr lang="en-US" sz="885" dirty="0"/>
          </a:p>
        </p:txBody>
      </p:sp>
      <p:sp>
        <p:nvSpPr>
          <p:cNvPr id="18" name="Text 14"/>
          <p:cNvSpPr/>
          <p:nvPr/>
        </p:nvSpPr>
        <p:spPr>
          <a:xfrm>
            <a:off x="792956" y="2928910"/>
            <a:ext cx="3550444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基于 FastAPI 的异步特性，实现图像预处理与 CNN 推理的并发执行。</a:t>
            </a:r>
            <a:endParaRPr lang="en-US" sz="835" dirty="0"/>
          </a:p>
        </p:txBody>
      </p:sp>
      <p:sp>
        <p:nvSpPr>
          <p:cNvPr id="19" name="Text 15"/>
          <p:cNvSpPr/>
          <p:nvPr/>
        </p:nvSpPr>
        <p:spPr>
          <a:xfrm>
            <a:off x="792956" y="3146068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几何解算引擎</a:t>
            </a:r>
            <a:endParaRPr lang="en-US" sz="885" dirty="0"/>
          </a:p>
        </p:txBody>
      </p:sp>
      <p:sp>
        <p:nvSpPr>
          <p:cNvPr id="20" name="Text 16"/>
          <p:cNvSpPr/>
          <p:nvPr/>
        </p:nvSpPr>
        <p:spPr>
          <a:xfrm>
            <a:off x="792956" y="3374668"/>
            <a:ext cx="3550444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集成 EPnP 算法，将 2D 关键点实时转换为 3D 旋转（R）和平移（T）。</a:t>
            </a:r>
            <a:endParaRPr lang="en-US" sz="835" dirty="0"/>
          </a:p>
        </p:txBody>
      </p:sp>
      <p:sp>
        <p:nvSpPr>
          <p:cNvPr id="21" name="Shape 17"/>
          <p:cNvSpPr/>
          <p:nvPr/>
        </p:nvSpPr>
        <p:spPr>
          <a:xfrm>
            <a:off x="657225" y="3780411"/>
            <a:ext cx="3686175" cy="685800"/>
          </a:xfrm>
          <a:prstGeom prst="rect">
            <a:avLst/>
          </a:prstGeom>
          <a:solidFill>
            <a:srgbClr val="F5F5DC"/>
          </a:solidFill>
          <a:ln w="9144">
            <a:solidFill>
              <a:srgbClr val="E67E22"/>
            </a:solidFill>
            <a:prstDash val="dash"/>
          </a:ln>
        </p:spPr>
      </p:sp>
      <p:sp>
        <p:nvSpPr>
          <p:cNvPr id="22" name="Text 18"/>
          <p:cNvSpPr/>
          <p:nvPr/>
        </p:nvSpPr>
        <p:spPr>
          <a:xfrm>
            <a:off x="728663" y="3851849"/>
            <a:ext cx="354330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技术亮点：</a:t>
            </a:r>
            <a:endParaRPr lang="en-US" sz="785" dirty="0"/>
          </a:p>
        </p:txBody>
      </p:sp>
      <p:sp>
        <p:nvSpPr>
          <p:cNvPr id="23" name="Text 19"/>
          <p:cNvSpPr/>
          <p:nvPr/>
        </p:nvSpPr>
        <p:spPr>
          <a:xfrm>
            <a:off x="728663" y="4080449"/>
            <a:ext cx="35433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通过异步 IO 极大降低了单帧处理的等待时间，确保了采摘机器人的实时反馈。</a:t>
            </a:r>
            <a:endParaRPr lang="en-US" sz="780" dirty="0"/>
          </a:p>
        </p:txBody>
      </p:sp>
      <p:sp>
        <p:nvSpPr>
          <p:cNvPr id="24" name="Shape 20"/>
          <p:cNvSpPr/>
          <p:nvPr/>
        </p:nvSpPr>
        <p:spPr>
          <a:xfrm>
            <a:off x="4714875" y="1257300"/>
            <a:ext cx="3857625" cy="400050"/>
          </a:xfrm>
          <a:prstGeom prst="rect">
            <a:avLst/>
          </a:prstGeom>
          <a:solidFill>
            <a:srgbClr val="5DADE2"/>
          </a:solidFill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823" y="1373386"/>
            <a:ext cx="192881" cy="17145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09705" y="1339453"/>
            <a:ext cx="1060847" cy="2339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前端 (Vue.js)</a:t>
            </a:r>
            <a:endParaRPr lang="en-US" sz="1195" dirty="0"/>
          </a:p>
        </p:txBody>
      </p:sp>
      <p:sp>
        <p:nvSpPr>
          <p:cNvPr id="27" name="Shape 22"/>
          <p:cNvSpPr/>
          <p:nvPr/>
        </p:nvSpPr>
        <p:spPr>
          <a:xfrm>
            <a:off x="4714875" y="1657350"/>
            <a:ext cx="3857625" cy="288029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Shape 23"/>
          <p:cNvSpPr/>
          <p:nvPr/>
        </p:nvSpPr>
        <p:spPr>
          <a:xfrm>
            <a:off x="8565356" y="1657350"/>
            <a:ext cx="7144" cy="2880299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9" name="Shape 24"/>
          <p:cNvSpPr/>
          <p:nvPr/>
        </p:nvSpPr>
        <p:spPr>
          <a:xfrm>
            <a:off x="4714875" y="4530505"/>
            <a:ext cx="3857625" cy="7144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30" name="Shape 25"/>
          <p:cNvSpPr/>
          <p:nvPr/>
        </p:nvSpPr>
        <p:spPr>
          <a:xfrm>
            <a:off x="4714875" y="1657350"/>
            <a:ext cx="7144" cy="2880299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31" name="Text 26"/>
          <p:cNvSpPr/>
          <p:nvPr/>
        </p:nvSpPr>
        <p:spPr>
          <a:xfrm>
            <a:off x="4800600" y="1743075"/>
            <a:ext cx="3686175" cy="265742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工业级交互控制台，提供直观的 3D 感知可视化。</a:t>
            </a:r>
            <a:endParaRPr lang="en-US" sz="885" dirty="0"/>
          </a:p>
        </p:txBody>
      </p:sp>
      <p:sp>
        <p:nvSpPr>
          <p:cNvPr id="32" name="Text 27"/>
          <p:cNvSpPr/>
          <p:nvPr/>
        </p:nvSpPr>
        <p:spPr>
          <a:xfrm>
            <a:off x="4936331" y="2094542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3D 边界框实时叠加</a:t>
            </a:r>
            <a:endParaRPr lang="en-US" sz="885" dirty="0"/>
          </a:p>
        </p:txBody>
      </p:sp>
      <p:sp>
        <p:nvSpPr>
          <p:cNvPr id="33" name="Text 28"/>
          <p:cNvSpPr/>
          <p:nvPr/>
        </p:nvSpPr>
        <p:spPr>
          <a:xfrm>
            <a:off x="4936331" y="2323142"/>
            <a:ext cx="3550444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在视频流上实时绘制 3D 投影框，直观展示草莓的位姿与尺寸。</a:t>
            </a:r>
            <a:endParaRPr lang="en-US" sz="835" dirty="0"/>
          </a:p>
        </p:txBody>
      </p:sp>
      <p:sp>
        <p:nvSpPr>
          <p:cNvPr id="34" name="Text 29"/>
          <p:cNvSpPr/>
          <p:nvPr/>
        </p:nvSpPr>
        <p:spPr>
          <a:xfrm>
            <a:off x="4936331" y="2540301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位姿遥测日志</a:t>
            </a:r>
            <a:endParaRPr lang="en-US" sz="885" dirty="0"/>
          </a:p>
        </p:txBody>
      </p:sp>
      <p:sp>
        <p:nvSpPr>
          <p:cNvPr id="35" name="Text 30"/>
          <p:cNvSpPr/>
          <p:nvPr/>
        </p:nvSpPr>
        <p:spPr>
          <a:xfrm>
            <a:off x="4936331" y="2768901"/>
            <a:ext cx="3550444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实时记录并显示目标的坐标、旋转角度及置信度数据流。</a:t>
            </a:r>
            <a:endParaRPr lang="en-US" sz="835" dirty="0"/>
          </a:p>
        </p:txBody>
      </p:sp>
      <p:sp>
        <p:nvSpPr>
          <p:cNvPr id="36" name="Text 31"/>
          <p:cNvSpPr/>
          <p:nvPr/>
        </p:nvSpPr>
        <p:spPr>
          <a:xfrm>
            <a:off x="4936331" y="2986060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参数动态调优</a:t>
            </a:r>
            <a:endParaRPr lang="en-US" sz="885" dirty="0"/>
          </a:p>
        </p:txBody>
      </p:sp>
      <p:sp>
        <p:nvSpPr>
          <p:cNvPr id="37" name="Text 32"/>
          <p:cNvSpPr/>
          <p:nvPr/>
        </p:nvSpPr>
        <p:spPr>
          <a:xfrm>
            <a:off x="4936331" y="3214660"/>
            <a:ext cx="3550444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提供可视化滑块，支持在线调整检测阈值与几何约束参数。</a:t>
            </a:r>
            <a:endParaRPr lang="en-US" sz="835" dirty="0"/>
          </a:p>
        </p:txBody>
      </p:sp>
      <p:sp>
        <p:nvSpPr>
          <p:cNvPr id="38" name="Shape 33"/>
          <p:cNvSpPr/>
          <p:nvPr/>
        </p:nvSpPr>
        <p:spPr>
          <a:xfrm>
            <a:off x="4800600" y="3460393"/>
            <a:ext cx="3686175" cy="535781"/>
          </a:xfrm>
          <a:prstGeom prst="rect">
            <a:avLst/>
          </a:prstGeom>
          <a:solidFill>
            <a:srgbClr val="F5F5DC"/>
          </a:solidFill>
          <a:ln w="9144">
            <a:solidFill>
              <a:srgbClr val="E67E22"/>
            </a:solidFill>
            <a:prstDash val="dash"/>
          </a:ln>
        </p:spPr>
      </p:sp>
      <p:sp>
        <p:nvSpPr>
          <p:cNvPr id="39" name="Text 34"/>
          <p:cNvSpPr/>
          <p:nvPr/>
        </p:nvSpPr>
        <p:spPr>
          <a:xfrm>
            <a:off x="4872038" y="3531831"/>
            <a:ext cx="354330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用户体验：</a:t>
            </a:r>
            <a:endParaRPr lang="en-US" sz="785" dirty="0"/>
          </a:p>
        </p:txBody>
      </p:sp>
      <p:sp>
        <p:nvSpPr>
          <p:cNvPr id="40" name="Text 35"/>
          <p:cNvSpPr/>
          <p:nvPr/>
        </p:nvSpPr>
        <p:spPr>
          <a:xfrm>
            <a:off x="4872038" y="3760431"/>
            <a:ext cx="3543300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响应式布局适配多种终端，支持在平板电脑上进行现场调试与监控。</a:t>
            </a:r>
            <a:endParaRPr lang="en-US" sz="780" dirty="0"/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53440"/>
            <a:ext cx="4833620" cy="3884295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140" y="853440"/>
            <a:ext cx="5573395" cy="39712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14388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48577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1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前后端分离系统集成方案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571500" y="957263"/>
            <a:ext cx="8001000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系统采用工业级前后端分离架构，确保了感知算法的高效推理与交互界面的流畅响应。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257300"/>
            <a:ext cx="3857625" cy="400050"/>
          </a:xfrm>
          <a:prstGeom prst="rect">
            <a:avLst/>
          </a:prstGeom>
          <a:solidFill>
            <a:srgbClr val="5DADE2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977" y="1373386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90427" y="1339453"/>
            <a:ext cx="1191220" cy="2339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后端 (FastAPI)</a:t>
            </a:r>
            <a:endParaRPr lang="en-US" sz="1195" dirty="0"/>
          </a:p>
        </p:txBody>
      </p:sp>
      <p:sp>
        <p:nvSpPr>
          <p:cNvPr id="10" name="Shape 6"/>
          <p:cNvSpPr/>
          <p:nvPr/>
        </p:nvSpPr>
        <p:spPr>
          <a:xfrm>
            <a:off x="571500" y="1657350"/>
            <a:ext cx="3857625" cy="290173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7"/>
          <p:cNvSpPr/>
          <p:nvPr/>
        </p:nvSpPr>
        <p:spPr>
          <a:xfrm>
            <a:off x="4421981" y="1657350"/>
            <a:ext cx="7144" cy="290173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2" name="Shape 8"/>
          <p:cNvSpPr/>
          <p:nvPr/>
        </p:nvSpPr>
        <p:spPr>
          <a:xfrm>
            <a:off x="571500" y="4551936"/>
            <a:ext cx="3857625" cy="7144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3" name="Shape 9"/>
          <p:cNvSpPr/>
          <p:nvPr/>
        </p:nvSpPr>
        <p:spPr>
          <a:xfrm>
            <a:off x="571500" y="1657350"/>
            <a:ext cx="7144" cy="290173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4" name="Text 10"/>
          <p:cNvSpPr/>
          <p:nvPr/>
        </p:nvSpPr>
        <p:spPr>
          <a:xfrm>
            <a:off x="657225" y="1743075"/>
            <a:ext cx="3686175" cy="265742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高性能异步推理引擎，负责核心计算任务。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792956" y="2094542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模型加载与管理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792956" y="2323142"/>
            <a:ext cx="3550444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动态加载 `darknet_strawberry_checkpoint.pth` 权重，支持多模型热切换。</a:t>
            </a:r>
            <a:endParaRPr lang="en-US" sz="835" dirty="0"/>
          </a:p>
        </p:txBody>
      </p:sp>
      <p:sp>
        <p:nvSpPr>
          <p:cNvPr id="17" name="Text 13"/>
          <p:cNvSpPr/>
          <p:nvPr/>
        </p:nvSpPr>
        <p:spPr>
          <a:xfrm>
            <a:off x="792956" y="2700310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异步推理流水线</a:t>
            </a:r>
            <a:endParaRPr lang="en-US" sz="885" dirty="0"/>
          </a:p>
        </p:txBody>
      </p:sp>
      <p:sp>
        <p:nvSpPr>
          <p:cNvPr id="18" name="Text 14"/>
          <p:cNvSpPr/>
          <p:nvPr/>
        </p:nvSpPr>
        <p:spPr>
          <a:xfrm>
            <a:off x="792956" y="2928910"/>
            <a:ext cx="3550444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基于 FastAPI 的异步特性，实现图像预处理与 CNN 推理的并发执行。</a:t>
            </a:r>
            <a:endParaRPr lang="en-US" sz="835" dirty="0"/>
          </a:p>
        </p:txBody>
      </p:sp>
      <p:sp>
        <p:nvSpPr>
          <p:cNvPr id="19" name="Text 15"/>
          <p:cNvSpPr/>
          <p:nvPr/>
        </p:nvSpPr>
        <p:spPr>
          <a:xfrm>
            <a:off x="792956" y="3146068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几何解算引擎</a:t>
            </a:r>
            <a:endParaRPr lang="en-US" sz="885" dirty="0"/>
          </a:p>
        </p:txBody>
      </p:sp>
      <p:sp>
        <p:nvSpPr>
          <p:cNvPr id="20" name="Text 16"/>
          <p:cNvSpPr/>
          <p:nvPr/>
        </p:nvSpPr>
        <p:spPr>
          <a:xfrm>
            <a:off x="792956" y="3374668"/>
            <a:ext cx="3550444" cy="3200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集成 EPnP 算法，将 2D 关键点实时转换为 3D 旋转（R）和平移（T）。</a:t>
            </a:r>
            <a:endParaRPr lang="en-US" sz="835" dirty="0"/>
          </a:p>
        </p:txBody>
      </p:sp>
      <p:sp>
        <p:nvSpPr>
          <p:cNvPr id="21" name="Shape 17"/>
          <p:cNvSpPr/>
          <p:nvPr/>
        </p:nvSpPr>
        <p:spPr>
          <a:xfrm>
            <a:off x="657225" y="3780411"/>
            <a:ext cx="3686175" cy="685800"/>
          </a:xfrm>
          <a:prstGeom prst="rect">
            <a:avLst/>
          </a:prstGeom>
          <a:solidFill>
            <a:srgbClr val="F5F5DC"/>
          </a:solidFill>
          <a:ln w="9144">
            <a:solidFill>
              <a:srgbClr val="E67E22"/>
            </a:solidFill>
            <a:prstDash val="dash"/>
          </a:ln>
        </p:spPr>
      </p:sp>
      <p:sp>
        <p:nvSpPr>
          <p:cNvPr id="22" name="Text 18"/>
          <p:cNvSpPr/>
          <p:nvPr/>
        </p:nvSpPr>
        <p:spPr>
          <a:xfrm>
            <a:off x="728663" y="3851849"/>
            <a:ext cx="354330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技术亮点：</a:t>
            </a:r>
            <a:endParaRPr lang="en-US" sz="785" dirty="0"/>
          </a:p>
        </p:txBody>
      </p:sp>
      <p:sp>
        <p:nvSpPr>
          <p:cNvPr id="23" name="Text 19"/>
          <p:cNvSpPr/>
          <p:nvPr/>
        </p:nvSpPr>
        <p:spPr>
          <a:xfrm>
            <a:off x="728663" y="4080449"/>
            <a:ext cx="35433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通过异步 IO 极大降低了单帧处理的等待时间，确保了采摘机器人的实时反馈。</a:t>
            </a:r>
            <a:endParaRPr lang="en-US" sz="780" dirty="0"/>
          </a:p>
        </p:txBody>
      </p:sp>
      <p:sp>
        <p:nvSpPr>
          <p:cNvPr id="24" name="Shape 20"/>
          <p:cNvSpPr/>
          <p:nvPr/>
        </p:nvSpPr>
        <p:spPr>
          <a:xfrm>
            <a:off x="4714875" y="1257300"/>
            <a:ext cx="3857625" cy="400050"/>
          </a:xfrm>
          <a:prstGeom prst="rect">
            <a:avLst/>
          </a:prstGeom>
          <a:solidFill>
            <a:srgbClr val="5DADE2"/>
          </a:solidFill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823" y="1373386"/>
            <a:ext cx="192881" cy="17145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09705" y="1339453"/>
            <a:ext cx="1060847" cy="2339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前端 (Vue.js)</a:t>
            </a:r>
            <a:endParaRPr lang="en-US" sz="1195" dirty="0"/>
          </a:p>
        </p:txBody>
      </p:sp>
      <p:sp>
        <p:nvSpPr>
          <p:cNvPr id="27" name="Shape 22"/>
          <p:cNvSpPr/>
          <p:nvPr/>
        </p:nvSpPr>
        <p:spPr>
          <a:xfrm>
            <a:off x="4714875" y="1657350"/>
            <a:ext cx="3857625" cy="288029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Shape 23"/>
          <p:cNvSpPr/>
          <p:nvPr/>
        </p:nvSpPr>
        <p:spPr>
          <a:xfrm>
            <a:off x="8565356" y="1657350"/>
            <a:ext cx="7144" cy="2880299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9" name="Shape 24"/>
          <p:cNvSpPr/>
          <p:nvPr/>
        </p:nvSpPr>
        <p:spPr>
          <a:xfrm>
            <a:off x="4714875" y="4530505"/>
            <a:ext cx="3857625" cy="7144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30" name="Shape 25"/>
          <p:cNvSpPr/>
          <p:nvPr/>
        </p:nvSpPr>
        <p:spPr>
          <a:xfrm>
            <a:off x="4714875" y="1657350"/>
            <a:ext cx="7144" cy="2880299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31" name="Text 26"/>
          <p:cNvSpPr/>
          <p:nvPr/>
        </p:nvSpPr>
        <p:spPr>
          <a:xfrm>
            <a:off x="4800600" y="1743075"/>
            <a:ext cx="3686175" cy="265742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工业级交互控制台，提供直观的 3D 感知可视化。</a:t>
            </a:r>
            <a:endParaRPr lang="en-US" sz="885" dirty="0"/>
          </a:p>
        </p:txBody>
      </p:sp>
      <p:sp>
        <p:nvSpPr>
          <p:cNvPr id="32" name="Text 27"/>
          <p:cNvSpPr/>
          <p:nvPr/>
        </p:nvSpPr>
        <p:spPr>
          <a:xfrm>
            <a:off x="4936331" y="2094542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3D 边界框实时叠加</a:t>
            </a:r>
            <a:endParaRPr lang="en-US" sz="885" dirty="0"/>
          </a:p>
        </p:txBody>
      </p:sp>
      <p:sp>
        <p:nvSpPr>
          <p:cNvPr id="33" name="Text 28"/>
          <p:cNvSpPr/>
          <p:nvPr/>
        </p:nvSpPr>
        <p:spPr>
          <a:xfrm>
            <a:off x="4936331" y="2323142"/>
            <a:ext cx="3550444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在视频流上实时绘制 3D 投影框，直观展示草莓的位姿与尺寸。</a:t>
            </a:r>
            <a:endParaRPr lang="en-US" sz="835" dirty="0"/>
          </a:p>
        </p:txBody>
      </p:sp>
      <p:sp>
        <p:nvSpPr>
          <p:cNvPr id="34" name="Text 29"/>
          <p:cNvSpPr/>
          <p:nvPr/>
        </p:nvSpPr>
        <p:spPr>
          <a:xfrm>
            <a:off x="4936331" y="2540301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位姿遥测日志</a:t>
            </a:r>
            <a:endParaRPr lang="en-US" sz="885" dirty="0"/>
          </a:p>
        </p:txBody>
      </p:sp>
      <p:sp>
        <p:nvSpPr>
          <p:cNvPr id="35" name="Text 30"/>
          <p:cNvSpPr/>
          <p:nvPr/>
        </p:nvSpPr>
        <p:spPr>
          <a:xfrm>
            <a:off x="4936331" y="2768901"/>
            <a:ext cx="3550444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实时记录并显示目标的坐标、旋转角度及置信度数据流。</a:t>
            </a:r>
            <a:endParaRPr lang="en-US" sz="835" dirty="0"/>
          </a:p>
        </p:txBody>
      </p:sp>
      <p:sp>
        <p:nvSpPr>
          <p:cNvPr id="36" name="Text 31"/>
          <p:cNvSpPr/>
          <p:nvPr/>
        </p:nvSpPr>
        <p:spPr>
          <a:xfrm>
            <a:off x="4936331" y="2986060"/>
            <a:ext cx="3550444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参数动态调优</a:t>
            </a:r>
            <a:endParaRPr lang="en-US" sz="885" dirty="0"/>
          </a:p>
        </p:txBody>
      </p:sp>
      <p:sp>
        <p:nvSpPr>
          <p:cNvPr id="37" name="Text 32"/>
          <p:cNvSpPr/>
          <p:nvPr/>
        </p:nvSpPr>
        <p:spPr>
          <a:xfrm>
            <a:off x="4936331" y="3214660"/>
            <a:ext cx="3550444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4A4A4A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提供可视化滑块，支持在线调整检测阈值与几何约束参数。</a:t>
            </a:r>
            <a:endParaRPr lang="en-US" sz="835" dirty="0"/>
          </a:p>
        </p:txBody>
      </p:sp>
      <p:sp>
        <p:nvSpPr>
          <p:cNvPr id="38" name="Shape 33"/>
          <p:cNvSpPr/>
          <p:nvPr/>
        </p:nvSpPr>
        <p:spPr>
          <a:xfrm>
            <a:off x="4800600" y="3460393"/>
            <a:ext cx="3686175" cy="535781"/>
          </a:xfrm>
          <a:prstGeom prst="rect">
            <a:avLst/>
          </a:prstGeom>
          <a:solidFill>
            <a:srgbClr val="F5F5DC"/>
          </a:solidFill>
          <a:ln w="9144">
            <a:solidFill>
              <a:srgbClr val="E67E22"/>
            </a:solidFill>
            <a:prstDash val="dash"/>
          </a:ln>
        </p:spPr>
      </p:sp>
      <p:sp>
        <p:nvSpPr>
          <p:cNvPr id="39" name="Text 34"/>
          <p:cNvSpPr/>
          <p:nvPr/>
        </p:nvSpPr>
        <p:spPr>
          <a:xfrm>
            <a:off x="4872038" y="3531831"/>
            <a:ext cx="354330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用户体验：</a:t>
            </a:r>
            <a:endParaRPr lang="en-US" sz="785" dirty="0"/>
          </a:p>
        </p:txBody>
      </p:sp>
      <p:sp>
        <p:nvSpPr>
          <p:cNvPr id="40" name="Text 35"/>
          <p:cNvSpPr/>
          <p:nvPr/>
        </p:nvSpPr>
        <p:spPr>
          <a:xfrm>
            <a:off x="4872038" y="3760431"/>
            <a:ext cx="3543300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响应式布局适配多种终端，支持在平板电脑上进行现场调试与监控。</a:t>
            </a:r>
            <a:endParaRPr lang="en-US" sz="780" dirty="0"/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25" y="733425"/>
            <a:ext cx="8199120" cy="4414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85825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1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项目进度完成情况 (85%)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1371600" y="1201573"/>
            <a:ext cx="6400800" cy="6400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19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目前项目整体进度已达 </a:t>
            </a:r>
            <a:r>
              <a:rPr lang="en-US" sz="1600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85%</a:t>
            </a:r>
            <a:r>
              <a:rPr lang="en-US" sz="119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，核心算法设计与实验验证工作已全部结项，系统集成进入最后调优阶段。</a:t>
            </a:r>
            <a:endParaRPr lang="en-US" sz="1195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571500" y="2127386"/>
            <a:ext cx="3857625" cy="67151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571500" y="2127386"/>
            <a:ext cx="42863" cy="671513"/>
          </a:xfrm>
          <a:prstGeom prst="rect">
            <a:avLst/>
          </a:prstGeom>
          <a:solidFill>
            <a:srgbClr val="E67E22"/>
          </a:solidFill>
        </p:spPr>
      </p:sp>
      <p:pic>
        <p:nvPicPr>
          <p:cNvPr id="9" name="Image 1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21714" y="2350629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>
            <p:custDataLst>
              <p:tags r:id="rId6"/>
            </p:custDataLst>
          </p:nvPr>
        </p:nvSpPr>
        <p:spPr>
          <a:xfrm>
            <a:off x="1100556" y="2270261"/>
            <a:ext cx="2630267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算法设计/模型训练：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核心架构已定型并完成 300 Epoch 充分训练。</a:t>
            </a:r>
            <a:endParaRPr lang="en-US" sz="940" dirty="0"/>
          </a:p>
        </p:txBody>
      </p:sp>
      <p:sp>
        <p:nvSpPr>
          <p:cNvPr id="11" name="Text 7"/>
          <p:cNvSpPr/>
          <p:nvPr>
            <p:custDataLst>
              <p:tags r:id="rId7"/>
            </p:custDataLst>
          </p:nvPr>
        </p:nvSpPr>
        <p:spPr>
          <a:xfrm>
            <a:off x="3837980" y="2334555"/>
            <a:ext cx="448270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100%</a:t>
            </a:r>
            <a:endParaRPr lang="en-US" sz="1195" dirty="0"/>
          </a:p>
        </p:txBody>
      </p:sp>
      <p:sp>
        <p:nvSpPr>
          <p:cNvPr id="12" name="Shape 8"/>
          <p:cNvSpPr/>
          <p:nvPr>
            <p:custDataLst>
              <p:tags r:id="rId8"/>
            </p:custDataLst>
          </p:nvPr>
        </p:nvSpPr>
        <p:spPr>
          <a:xfrm>
            <a:off x="4714875" y="2127386"/>
            <a:ext cx="3857625" cy="67151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 9"/>
          <p:cNvSpPr/>
          <p:nvPr>
            <p:custDataLst>
              <p:tags r:id="rId9"/>
            </p:custDataLst>
          </p:nvPr>
        </p:nvSpPr>
        <p:spPr>
          <a:xfrm>
            <a:off x="4714875" y="2127386"/>
            <a:ext cx="42863" cy="671513"/>
          </a:xfrm>
          <a:prstGeom prst="rect">
            <a:avLst/>
          </a:prstGeom>
          <a:solidFill>
            <a:srgbClr val="E67E22"/>
          </a:solidFill>
        </p:spPr>
      </p:sp>
      <p:pic>
        <p:nvPicPr>
          <p:cNvPr id="14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882279" y="2350629"/>
            <a:ext cx="200025" cy="228600"/>
          </a:xfrm>
          <a:prstGeom prst="rect">
            <a:avLst/>
          </a:prstGeom>
        </p:spPr>
      </p:pic>
      <p:sp>
        <p:nvSpPr>
          <p:cNvPr id="15" name="Text 10"/>
          <p:cNvSpPr/>
          <p:nvPr>
            <p:custDataLst>
              <p:tags r:id="rId12"/>
            </p:custDataLst>
          </p:nvPr>
        </p:nvSpPr>
        <p:spPr>
          <a:xfrm>
            <a:off x="5249735" y="2270261"/>
            <a:ext cx="2624463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实验分析：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对比实验与误差归因分析已结项，验证了架构有效性。</a:t>
            </a:r>
            <a:endParaRPr lang="en-US" sz="940" dirty="0"/>
          </a:p>
        </p:txBody>
      </p:sp>
      <p:sp>
        <p:nvSpPr>
          <p:cNvPr id="16" name="Text 11"/>
          <p:cNvSpPr/>
          <p:nvPr>
            <p:custDataLst>
              <p:tags r:id="rId13"/>
            </p:custDataLst>
          </p:nvPr>
        </p:nvSpPr>
        <p:spPr>
          <a:xfrm>
            <a:off x="7981355" y="2334555"/>
            <a:ext cx="448270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100%</a:t>
            </a:r>
            <a:endParaRPr lang="en-US" sz="1195" dirty="0"/>
          </a:p>
        </p:txBody>
      </p:sp>
      <p:sp>
        <p:nvSpPr>
          <p:cNvPr id="17" name="Shape 12"/>
          <p:cNvSpPr/>
          <p:nvPr>
            <p:custDataLst>
              <p:tags r:id="rId14"/>
            </p:custDataLst>
          </p:nvPr>
        </p:nvSpPr>
        <p:spPr>
          <a:xfrm>
            <a:off x="571500" y="3084649"/>
            <a:ext cx="3857625" cy="67151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Shape 13"/>
          <p:cNvSpPr/>
          <p:nvPr>
            <p:custDataLst>
              <p:tags r:id="rId15"/>
            </p:custDataLst>
          </p:nvPr>
        </p:nvSpPr>
        <p:spPr>
          <a:xfrm>
            <a:off x="571500" y="3084649"/>
            <a:ext cx="42863" cy="671513"/>
          </a:xfrm>
          <a:prstGeom prst="rect">
            <a:avLst/>
          </a:prstGeom>
          <a:solidFill>
            <a:srgbClr val="E67E22"/>
          </a:solidFill>
        </p:spPr>
      </p:sp>
      <p:pic>
        <p:nvPicPr>
          <p:cNvPr id="19" name="Image 3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14375" y="3307891"/>
            <a:ext cx="285750" cy="228600"/>
          </a:xfrm>
          <a:prstGeom prst="rect">
            <a:avLst/>
          </a:prstGeom>
        </p:spPr>
      </p:pic>
      <p:sp>
        <p:nvSpPr>
          <p:cNvPr id="20" name="Text 14"/>
          <p:cNvSpPr/>
          <p:nvPr>
            <p:custDataLst>
              <p:tags r:id="rId18"/>
            </p:custDataLst>
          </p:nvPr>
        </p:nvSpPr>
        <p:spPr>
          <a:xfrm>
            <a:off x="1143000" y="3227524"/>
            <a:ext cx="2686050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系统集成：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前后端通信已打通，目前正进行 UI 适配与性能调优。</a:t>
            </a:r>
            <a:endParaRPr lang="en-US" sz="940" dirty="0"/>
          </a:p>
        </p:txBody>
      </p:sp>
      <p:sp>
        <p:nvSpPr>
          <p:cNvPr id="21" name="Text 15"/>
          <p:cNvSpPr/>
          <p:nvPr>
            <p:custDataLst>
              <p:tags r:id="rId19"/>
            </p:custDataLst>
          </p:nvPr>
        </p:nvSpPr>
        <p:spPr>
          <a:xfrm>
            <a:off x="3936206" y="3291818"/>
            <a:ext cx="350044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90%</a:t>
            </a:r>
            <a:endParaRPr lang="en-US" sz="1195" dirty="0"/>
          </a:p>
        </p:txBody>
      </p:sp>
      <p:sp>
        <p:nvSpPr>
          <p:cNvPr id="22" name="Shape 16"/>
          <p:cNvSpPr/>
          <p:nvPr>
            <p:custDataLst>
              <p:tags r:id="rId20"/>
            </p:custDataLst>
          </p:nvPr>
        </p:nvSpPr>
        <p:spPr>
          <a:xfrm>
            <a:off x="4714875" y="3084649"/>
            <a:ext cx="3857625" cy="67151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Shape 17"/>
          <p:cNvSpPr/>
          <p:nvPr>
            <p:custDataLst>
              <p:tags r:id="rId21"/>
            </p:custDataLst>
          </p:nvPr>
        </p:nvSpPr>
        <p:spPr>
          <a:xfrm>
            <a:off x="4714875" y="3084649"/>
            <a:ext cx="42863" cy="671513"/>
          </a:xfrm>
          <a:prstGeom prst="rect">
            <a:avLst/>
          </a:prstGeom>
          <a:solidFill>
            <a:srgbClr val="E67E22"/>
          </a:solidFill>
        </p:spPr>
      </p:sp>
      <p:pic>
        <p:nvPicPr>
          <p:cNvPr id="24" name="Image 4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4904994" y="3307891"/>
            <a:ext cx="171450" cy="228600"/>
          </a:xfrm>
          <a:prstGeom prst="rect">
            <a:avLst/>
          </a:prstGeom>
        </p:spPr>
      </p:pic>
      <p:sp>
        <p:nvSpPr>
          <p:cNvPr id="25" name="Text 18"/>
          <p:cNvSpPr/>
          <p:nvPr>
            <p:custDataLst>
              <p:tags r:id="rId24"/>
            </p:custDataLst>
          </p:nvPr>
        </p:nvSpPr>
        <p:spPr>
          <a:xfrm>
            <a:off x="5266562" y="3227524"/>
            <a:ext cx="2705863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论文起草：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已完成核心架构、算法原理及实验分析章节的撰写。</a:t>
            </a:r>
            <a:endParaRPr lang="en-US" sz="940" dirty="0"/>
          </a:p>
        </p:txBody>
      </p:sp>
      <p:sp>
        <p:nvSpPr>
          <p:cNvPr id="26" name="Text 19"/>
          <p:cNvSpPr/>
          <p:nvPr>
            <p:custDataLst>
              <p:tags r:id="rId25"/>
            </p:custDataLst>
          </p:nvPr>
        </p:nvSpPr>
        <p:spPr>
          <a:xfrm>
            <a:off x="8079581" y="3291818"/>
            <a:ext cx="350044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5" b="1" dirty="0">
                <a:solidFill>
                  <a:srgbClr val="E67E22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40%</a:t>
            </a:r>
            <a:endParaRPr lang="en-US" sz="1195" dirty="0"/>
          </a:p>
        </p:txBody>
      </p:sp>
      <p:sp>
        <p:nvSpPr>
          <p:cNvPr id="27" name="Shape 20"/>
          <p:cNvSpPr/>
          <p:nvPr/>
        </p:nvSpPr>
        <p:spPr>
          <a:xfrm>
            <a:off x="971550" y="4041911"/>
            <a:ext cx="7200900" cy="571500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28" name="Text 21"/>
          <p:cNvSpPr/>
          <p:nvPr/>
        </p:nvSpPr>
        <p:spPr>
          <a:xfrm>
            <a:off x="1150144" y="4220505"/>
            <a:ext cx="6843713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阶段性总结：中期目标基本达成，研究路径清晰可行，后续将重点攻克深度模糊问题并完成部署实验。</a:t>
            </a:r>
            <a:endParaRPr lang="en-US" sz="98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85825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1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中期主要成果展示汇总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971550" y="1459474"/>
            <a:ext cx="7200900" cy="502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6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本项目已形成一套完整的“算法-系统-文档”科研产出体系，验证了 CNN-Transformer 混合架构在草莓 3D 位姿估计任务中的优越性。</a:t>
            </a:r>
            <a:endParaRPr lang="en-US" sz="1160" dirty="0"/>
          </a:p>
        </p:txBody>
      </p:sp>
      <p:sp>
        <p:nvSpPr>
          <p:cNvPr id="7" name="Shape 4"/>
          <p:cNvSpPr/>
          <p:nvPr/>
        </p:nvSpPr>
        <p:spPr>
          <a:xfrm>
            <a:off x="571500" y="2176695"/>
            <a:ext cx="3929063" cy="778669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2349931"/>
            <a:ext cx="200025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5838" y="2276708"/>
            <a:ext cx="3414713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算法成果：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成功构建 CNN-Transformer 混合架构，在 Straw6D 数据集上实现了高精度的 3D 关键点回归与位姿解算。</a:t>
            </a:r>
            <a:endParaRPr lang="en-US" sz="940" dirty="0"/>
          </a:p>
        </p:txBody>
      </p:sp>
      <p:sp>
        <p:nvSpPr>
          <p:cNvPr id="10" name="Shape 6"/>
          <p:cNvSpPr/>
          <p:nvPr/>
        </p:nvSpPr>
        <p:spPr>
          <a:xfrm>
            <a:off x="4643438" y="2176695"/>
            <a:ext cx="3929063" cy="778669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2349931"/>
            <a:ext cx="225028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82778" y="2276708"/>
            <a:ext cx="3389709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工程成果：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开发了基于 FastAPI 与 Vue.js 的 3D 感知原型系统，沉淀了 `darknet_strawberry_checkpoint.pth` 核心权重。</a:t>
            </a:r>
            <a:endParaRPr lang="en-US" sz="940" dirty="0"/>
          </a:p>
        </p:txBody>
      </p:sp>
      <p:sp>
        <p:nvSpPr>
          <p:cNvPr id="13" name="Shape 8"/>
          <p:cNvSpPr/>
          <p:nvPr/>
        </p:nvSpPr>
        <p:spPr>
          <a:xfrm>
            <a:off x="571500" y="3098239"/>
            <a:ext cx="3929063" cy="585788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3271475"/>
            <a:ext cx="175022" cy="2000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834" y="3198251"/>
            <a:ext cx="3439716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实验成果：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完成了 300 Epoch 的对比实验与误差归因分析，量化证明了 Transformer 模块对遮挡场景的鲁棒性提升。</a:t>
            </a:r>
            <a:endParaRPr lang="en-US" sz="940" dirty="0"/>
          </a:p>
        </p:txBody>
      </p:sp>
      <p:sp>
        <p:nvSpPr>
          <p:cNvPr id="16" name="Shape 10"/>
          <p:cNvSpPr/>
          <p:nvPr/>
        </p:nvSpPr>
        <p:spPr>
          <a:xfrm>
            <a:off x="4643438" y="3098239"/>
            <a:ext cx="3929063" cy="585788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3271475"/>
            <a:ext cx="175022" cy="2000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32772" y="3198251"/>
            <a:ext cx="3439716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文档成果：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整理并 Git 托管了全套学术支撑文档、实验日志及源码，确保了研究过程的可追溯性与复现性。</a:t>
            </a:r>
            <a:endParaRPr lang="en-US" sz="940" dirty="0"/>
          </a:p>
        </p:txBody>
      </p:sp>
      <p:sp>
        <p:nvSpPr>
          <p:cNvPr id="19" name="Shape 12"/>
          <p:cNvSpPr/>
          <p:nvPr/>
        </p:nvSpPr>
        <p:spPr>
          <a:xfrm>
            <a:off x="971550" y="3898339"/>
            <a:ext cx="7200900" cy="757238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20" name="Shape 13"/>
          <p:cNvSpPr/>
          <p:nvPr/>
        </p:nvSpPr>
        <p:spPr>
          <a:xfrm>
            <a:off x="971550" y="3898339"/>
            <a:ext cx="57150" cy="757238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1" name="Text 14"/>
          <p:cNvSpPr/>
          <p:nvPr/>
        </p:nvSpPr>
        <p:spPr>
          <a:xfrm>
            <a:off x="1100138" y="4026926"/>
            <a:ext cx="6943725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“中期目标基本达成：核心算法已定型，原型系统已跑通，实验数据已完备。”</a:t>
            </a:r>
            <a:endParaRPr lang="en-US" sz="1090" dirty="0"/>
          </a:p>
        </p:txBody>
      </p:sp>
      <p:sp>
        <p:nvSpPr>
          <p:cNvPr id="22" name="Text 15"/>
          <p:cNvSpPr/>
          <p:nvPr/>
        </p:nvSpPr>
        <p:spPr>
          <a:xfrm>
            <a:off x="1100138" y="4334108"/>
            <a:ext cx="6943725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0" dirty="0">
                <a:solidFill>
                  <a:srgbClr val="FFFFFF">
                    <a:alpha val="90000"/>
                  </a:srgbClr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—— 阶段性总结</a:t>
            </a:r>
            <a:endParaRPr lang="en-US" sz="9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85825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1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后期安排与深度模糊对策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971550" y="1163008"/>
            <a:ext cx="7200900" cy="502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6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针对单目视觉固有的深度模糊（Depth Ambiguity）挑战，后期将引入概率先验模型进行几何修正，并按计划推进量化部署与论文定稿。</a:t>
            </a:r>
            <a:endParaRPr lang="en-US" sz="1160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571500" y="1951667"/>
            <a:ext cx="3893344" cy="671513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pic>
        <p:nvPicPr>
          <p:cNvPr id="8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14375" y="2167765"/>
            <a:ext cx="200025" cy="200025"/>
          </a:xfrm>
          <a:prstGeom prst="rect">
            <a:avLst/>
          </a:prstGeom>
        </p:spPr>
      </p:pic>
      <p:sp>
        <p:nvSpPr>
          <p:cNvPr id="9" name="Text 5"/>
          <p:cNvSpPr/>
          <p:nvPr>
            <p:custDataLst>
              <p:tags r:id="rId5"/>
            </p:custDataLst>
          </p:nvPr>
        </p:nvSpPr>
        <p:spPr>
          <a:xfrm>
            <a:off x="1057275" y="2094542"/>
            <a:ext cx="3264694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优化对策：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引入“作物尺寸概率先验模型”，基于贝叶斯后验概率修正 Z 轴深度偏差，提升极端场景下的定位精度。</a:t>
            </a:r>
            <a:endParaRPr lang="en-US" sz="940" dirty="0"/>
          </a:p>
        </p:txBody>
      </p:sp>
      <p:sp>
        <p:nvSpPr>
          <p:cNvPr id="10" name="Shape 6"/>
          <p:cNvSpPr/>
          <p:nvPr>
            <p:custDataLst>
              <p:tags r:id="rId6"/>
            </p:custDataLst>
          </p:nvPr>
        </p:nvSpPr>
        <p:spPr>
          <a:xfrm>
            <a:off x="4679156" y="1951667"/>
            <a:ext cx="3893344" cy="671513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pic>
        <p:nvPicPr>
          <p:cNvPr id="11" name="Image 2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822031" y="2167765"/>
            <a:ext cx="175022" cy="200025"/>
          </a:xfrm>
          <a:prstGeom prst="rect">
            <a:avLst/>
          </a:prstGeom>
        </p:spPr>
      </p:pic>
      <p:sp>
        <p:nvSpPr>
          <p:cNvPr id="12" name="Text 7"/>
          <p:cNvSpPr/>
          <p:nvPr>
            <p:custDataLst>
              <p:tags r:id="rId9"/>
            </p:custDataLst>
          </p:nvPr>
        </p:nvSpPr>
        <p:spPr>
          <a:xfrm>
            <a:off x="5139928" y="2094542"/>
            <a:ext cx="3289697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4月下旬：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开展鲁棒性专项测试，重点针对密集遮挡、HDR 强光等极端非结构化场景进行算法压力测试与调优。</a:t>
            </a:r>
            <a:endParaRPr lang="en-US" sz="940" dirty="0"/>
          </a:p>
        </p:txBody>
      </p:sp>
      <p:sp>
        <p:nvSpPr>
          <p:cNvPr id="13" name="Shape 8"/>
          <p:cNvSpPr/>
          <p:nvPr>
            <p:custDataLst>
              <p:tags r:id="rId10"/>
            </p:custDataLst>
          </p:nvPr>
        </p:nvSpPr>
        <p:spPr>
          <a:xfrm>
            <a:off x="571500" y="2837492"/>
            <a:ext cx="3893344" cy="671513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pic>
        <p:nvPicPr>
          <p:cNvPr id="14" name="Image 3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14375" y="3053590"/>
            <a:ext cx="200025" cy="200025"/>
          </a:xfrm>
          <a:prstGeom prst="rect">
            <a:avLst/>
          </a:prstGeom>
        </p:spPr>
      </p:pic>
      <p:sp>
        <p:nvSpPr>
          <p:cNvPr id="15" name="Text 9"/>
          <p:cNvSpPr/>
          <p:nvPr>
            <p:custDataLst>
              <p:tags r:id="rId13"/>
            </p:custDataLst>
          </p:nvPr>
        </p:nvSpPr>
        <p:spPr>
          <a:xfrm>
            <a:off x="1057275" y="2980367"/>
            <a:ext cx="3264694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5月上旬：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执行 Jetson 平台量化部署实验，利用 TensorRT 进行模型加速，验证嵌入式端实时推理性能。</a:t>
            </a:r>
            <a:endParaRPr lang="en-US" sz="940" dirty="0"/>
          </a:p>
        </p:txBody>
      </p:sp>
      <p:sp>
        <p:nvSpPr>
          <p:cNvPr id="16" name="Shape 10"/>
          <p:cNvSpPr/>
          <p:nvPr>
            <p:custDataLst>
              <p:tags r:id="rId14"/>
            </p:custDataLst>
          </p:nvPr>
        </p:nvSpPr>
        <p:spPr>
          <a:xfrm>
            <a:off x="4679156" y="2837492"/>
            <a:ext cx="3893344" cy="671513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pic>
        <p:nvPicPr>
          <p:cNvPr id="17" name="Image 4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822031" y="3053590"/>
            <a:ext cx="250031" cy="200025"/>
          </a:xfrm>
          <a:prstGeom prst="rect">
            <a:avLst/>
          </a:prstGeom>
        </p:spPr>
      </p:pic>
      <p:sp>
        <p:nvSpPr>
          <p:cNvPr id="18" name="Text 11"/>
          <p:cNvSpPr/>
          <p:nvPr>
            <p:custDataLst>
              <p:tags r:id="rId17"/>
            </p:custDataLst>
          </p:nvPr>
        </p:nvSpPr>
        <p:spPr>
          <a:xfrm>
            <a:off x="5214938" y="2980367"/>
            <a:ext cx="3214688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5月中旬：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完成毕业论文初稿的盲审提交，并根据评审意见进行最终定稿，确保学术成果的高质量产出。</a:t>
            </a:r>
            <a:endParaRPr lang="en-US" sz="940" dirty="0"/>
          </a:p>
        </p:txBody>
      </p:sp>
      <p:sp>
        <p:nvSpPr>
          <p:cNvPr id="19" name="Shape 12"/>
          <p:cNvSpPr/>
          <p:nvPr/>
        </p:nvSpPr>
        <p:spPr>
          <a:xfrm>
            <a:off x="971550" y="3794754"/>
            <a:ext cx="7200900" cy="857250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20" name="Shape 13"/>
          <p:cNvSpPr/>
          <p:nvPr/>
        </p:nvSpPr>
        <p:spPr>
          <a:xfrm>
            <a:off x="971550" y="3794754"/>
            <a:ext cx="57150" cy="85725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1" name="Text 14"/>
          <p:cNvSpPr/>
          <p:nvPr/>
        </p:nvSpPr>
        <p:spPr>
          <a:xfrm>
            <a:off x="1150144" y="3973348"/>
            <a:ext cx="6843713" cy="2357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“从算法验证走向工程落地，确保研究成果具备实际的农业生产应用价值。”</a:t>
            </a:r>
            <a:endParaRPr lang="en-US" sz="1090" dirty="0"/>
          </a:p>
        </p:txBody>
      </p:sp>
      <p:sp>
        <p:nvSpPr>
          <p:cNvPr id="22" name="Text 15"/>
          <p:cNvSpPr/>
          <p:nvPr/>
        </p:nvSpPr>
        <p:spPr>
          <a:xfrm>
            <a:off x="1150144" y="4280529"/>
            <a:ext cx="6843713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0" dirty="0">
                <a:solidFill>
                  <a:srgbClr val="FFFFFF">
                    <a:alpha val="90000"/>
                  </a:srgbClr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—— 后期工作愿景</a:t>
            </a:r>
            <a:endParaRPr lang="en-US" sz="9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885825"/>
            <a:ext cx="8001000" cy="28575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485775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10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致谢与提问环节</a:t>
            </a:r>
            <a:endParaRPr lang="en-US" sz="1810" dirty="0"/>
          </a:p>
        </p:txBody>
      </p:sp>
      <p:sp>
        <p:nvSpPr>
          <p:cNvPr id="6" name="Text 3"/>
          <p:cNvSpPr/>
          <p:nvPr/>
        </p:nvSpPr>
        <p:spPr>
          <a:xfrm>
            <a:off x="1371600" y="1155167"/>
            <a:ext cx="6400800" cy="6400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39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衷心感谢王晨导师的悉心指导，以及实验室全体同学在研究过程中提供的无私帮助与支持。</a:t>
            </a:r>
            <a:endParaRPr lang="en-US" sz="1395" dirty="0"/>
          </a:p>
        </p:txBody>
      </p:sp>
      <p:sp>
        <p:nvSpPr>
          <p:cNvPr id="7" name="Shape 4"/>
          <p:cNvSpPr/>
          <p:nvPr/>
        </p:nvSpPr>
        <p:spPr>
          <a:xfrm>
            <a:off x="571500" y="2080952"/>
            <a:ext cx="3893344" cy="5429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268475"/>
            <a:ext cx="150019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1550" y="2255974"/>
            <a:ext cx="1994892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汇报人：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陈斌斌 (2022308250212)</a:t>
            </a:r>
            <a:endParaRPr lang="en-US" sz="940" dirty="0"/>
          </a:p>
        </p:txBody>
      </p:sp>
      <p:sp>
        <p:nvSpPr>
          <p:cNvPr id="10" name="Shape 6"/>
          <p:cNvSpPr/>
          <p:nvPr/>
        </p:nvSpPr>
        <p:spPr>
          <a:xfrm>
            <a:off x="4679156" y="2080952"/>
            <a:ext cx="3893344" cy="5429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031" y="2268475"/>
            <a:ext cx="214313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43500" y="2255974"/>
            <a:ext cx="297715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学院专业：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信息与电气工程学院 / 计算机科学与技术</a:t>
            </a:r>
            <a:endParaRPr lang="en-US" sz="940" dirty="0"/>
          </a:p>
        </p:txBody>
      </p:sp>
      <p:sp>
        <p:nvSpPr>
          <p:cNvPr id="13" name="Shape 8"/>
          <p:cNvSpPr/>
          <p:nvPr/>
        </p:nvSpPr>
        <p:spPr>
          <a:xfrm>
            <a:off x="571500" y="2838190"/>
            <a:ext cx="3893344" cy="5429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025713"/>
            <a:ext cx="214313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35844" y="3013211"/>
            <a:ext cx="1225153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指导教师：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王晨 教授</a:t>
            </a:r>
            <a:endParaRPr lang="en-US" sz="940" dirty="0"/>
          </a:p>
        </p:txBody>
      </p:sp>
      <p:sp>
        <p:nvSpPr>
          <p:cNvPr id="16" name="Shape 10"/>
          <p:cNvSpPr/>
          <p:nvPr/>
        </p:nvSpPr>
        <p:spPr>
          <a:xfrm>
            <a:off x="4679156" y="2838190"/>
            <a:ext cx="3893344" cy="5429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3025713"/>
            <a:ext cx="171450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00638" y="3013211"/>
            <a:ext cx="251102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联系方式：</a:t>
            </a:r>
            <a:r>
              <a:rPr lang="en-US" sz="940" dirty="0">
                <a:solidFill>
                  <a:srgbClr val="2C3E5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binbin.chen@university.edu.cn</a:t>
            </a:r>
            <a:endParaRPr lang="en-US" sz="940" dirty="0"/>
          </a:p>
        </p:txBody>
      </p:sp>
      <p:sp>
        <p:nvSpPr>
          <p:cNvPr id="19" name="Shape 12"/>
          <p:cNvSpPr/>
          <p:nvPr/>
        </p:nvSpPr>
        <p:spPr>
          <a:xfrm>
            <a:off x="1171575" y="3666865"/>
            <a:ext cx="6800850" cy="992981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20" name="Shape 13"/>
          <p:cNvSpPr/>
          <p:nvPr/>
        </p:nvSpPr>
        <p:spPr>
          <a:xfrm>
            <a:off x="1171575" y="3666865"/>
            <a:ext cx="6800850" cy="42863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1" name="Text 14"/>
          <p:cNvSpPr/>
          <p:nvPr/>
        </p:nvSpPr>
        <p:spPr>
          <a:xfrm>
            <a:off x="1385888" y="3902608"/>
            <a:ext cx="6372225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“恳请各位评审老师批评指正，欢迎提问！”</a:t>
            </a:r>
            <a:endParaRPr lang="en-US" sz="1195" dirty="0"/>
          </a:p>
        </p:txBody>
      </p:sp>
      <p:sp>
        <p:nvSpPr>
          <p:cNvPr id="22" name="Text 15"/>
          <p:cNvSpPr/>
          <p:nvPr/>
        </p:nvSpPr>
        <p:spPr>
          <a:xfrm>
            <a:off x="1385888" y="4231221"/>
            <a:ext cx="6372225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0" dirty="0">
                <a:solidFill>
                  <a:srgbClr val="FFFFFF">
                    <a:alpha val="90000"/>
                  </a:srgbClr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—— 基于单视角图像的草莓3D位姿和尺寸估计 中期汇报</a:t>
            </a:r>
            <a:endParaRPr lang="en-US" sz="94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2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3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4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5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6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7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8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9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10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11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12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13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14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15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16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17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18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19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20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21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22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23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24.xml><?xml version="1.0" encoding="utf-8"?>
<p:tagLst xmlns:p="http://schemas.openxmlformats.org/presentationml/2006/main">
  <p:tag name="KSO_WM_DIAGRAM_VIRTUALLY_FRAME" val="{&quot;height&quot;:185.62496062992125,&quot;left&quot;:45,&quot;top&quot;:137.81251968503938,&quot;width&quot;:630}"/>
</p:tagLst>
</file>

<file path=ppt/tags/tag25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26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27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28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29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30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31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32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33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34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35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36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37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38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39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40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41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42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43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44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45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46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47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48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49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50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51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52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53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54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55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56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57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58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59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60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61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62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63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64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65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66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67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68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69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70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71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72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73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74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75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76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77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78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79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80.xml><?xml version="1.0" encoding="utf-8"?>
<p:tagLst xmlns:p="http://schemas.openxmlformats.org/presentationml/2006/main">
  <p:tag name="KSO_WM_DIAGRAM_VIRTUALLY_FRAME" val="{&quot;height&quot;:235.00637795275588,&quot;left&quot;:45,&quot;top&quot;:114.75,&quot;width&quot;:630}"/>
</p:tagLst>
</file>

<file path=ppt/tags/tag81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82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83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84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85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86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87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88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89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90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91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92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93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94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95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96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97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98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99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100.xml><?xml version="1.0" encoding="utf-8"?>
<p:tagLst xmlns:p="http://schemas.openxmlformats.org/presentationml/2006/main">
  <p:tag name="KSO_WM_DIAGRAM_VIRTUALLY_FRAME" val="{&quot;height&quot;:128.25007874015745,&quot;left&quot;:45,&quot;top&quot;:167.5107086614173,&quot;width&quot;:630}"/>
</p:tagLst>
</file>

<file path=ppt/tags/tag101.xml><?xml version="1.0" encoding="utf-8"?>
<p:tagLst xmlns:p="http://schemas.openxmlformats.org/presentationml/2006/main">
  <p:tag name="KSO_WM_DIAGRAM_VIRTUALLY_FRAME" val="{&quot;height&quot;:122.62503937007871,&quot;left&quot;:45,&quot;top&quot;:153.67456692913385,&quot;width&quot;:630}"/>
</p:tagLst>
</file>

<file path=ppt/tags/tag102.xml><?xml version="1.0" encoding="utf-8"?>
<p:tagLst xmlns:p="http://schemas.openxmlformats.org/presentationml/2006/main">
  <p:tag name="KSO_WM_DIAGRAM_VIRTUALLY_FRAME" val="{&quot;height&quot;:122.62503937007871,&quot;left&quot;:45,&quot;top&quot;:153.67456692913385,&quot;width&quot;:630}"/>
</p:tagLst>
</file>

<file path=ppt/tags/tag103.xml><?xml version="1.0" encoding="utf-8"?>
<p:tagLst xmlns:p="http://schemas.openxmlformats.org/presentationml/2006/main">
  <p:tag name="KSO_WM_DIAGRAM_VIRTUALLY_FRAME" val="{&quot;height&quot;:122.62503937007871,&quot;left&quot;:45,&quot;top&quot;:153.67456692913385,&quot;width&quot;:630}"/>
</p:tagLst>
</file>

<file path=ppt/tags/tag104.xml><?xml version="1.0" encoding="utf-8"?>
<p:tagLst xmlns:p="http://schemas.openxmlformats.org/presentationml/2006/main">
  <p:tag name="KSO_WM_DIAGRAM_VIRTUALLY_FRAME" val="{&quot;height&quot;:122.62503937007871,&quot;left&quot;:45,&quot;top&quot;:153.67456692913385,&quot;width&quot;:630}"/>
</p:tagLst>
</file>

<file path=ppt/tags/tag105.xml><?xml version="1.0" encoding="utf-8"?>
<p:tagLst xmlns:p="http://schemas.openxmlformats.org/presentationml/2006/main">
  <p:tag name="KSO_WM_DIAGRAM_VIRTUALLY_FRAME" val="{&quot;height&quot;:122.62503937007871,&quot;left&quot;:45,&quot;top&quot;:153.67456692913385,&quot;width&quot;:630}"/>
</p:tagLst>
</file>

<file path=ppt/tags/tag106.xml><?xml version="1.0" encoding="utf-8"?>
<p:tagLst xmlns:p="http://schemas.openxmlformats.org/presentationml/2006/main">
  <p:tag name="KSO_WM_DIAGRAM_VIRTUALLY_FRAME" val="{&quot;height&quot;:122.62503937007871,&quot;left&quot;:45,&quot;top&quot;:153.67456692913385,&quot;width&quot;:630}"/>
</p:tagLst>
</file>

<file path=ppt/tags/tag107.xml><?xml version="1.0" encoding="utf-8"?>
<p:tagLst xmlns:p="http://schemas.openxmlformats.org/presentationml/2006/main">
  <p:tag name="KSO_WM_DIAGRAM_VIRTUALLY_FRAME" val="{&quot;height&quot;:122.62503937007871,&quot;left&quot;:45,&quot;top&quot;:153.67456692913385,&quot;width&quot;:630}"/>
</p:tagLst>
</file>

<file path=ppt/tags/tag108.xml><?xml version="1.0" encoding="utf-8"?>
<p:tagLst xmlns:p="http://schemas.openxmlformats.org/presentationml/2006/main">
  <p:tag name="KSO_WM_DIAGRAM_VIRTUALLY_FRAME" val="{&quot;height&quot;:122.62503937007871,&quot;left&quot;:45,&quot;top&quot;:153.67456692913385,&quot;width&quot;:630}"/>
</p:tagLst>
</file>

<file path=ppt/tags/tag109.xml><?xml version="1.0" encoding="utf-8"?>
<p:tagLst xmlns:p="http://schemas.openxmlformats.org/presentationml/2006/main">
  <p:tag name="KSO_WM_DIAGRAM_VIRTUALLY_FRAME" val="{&quot;height&quot;:122.62503937007871,&quot;left&quot;:45,&quot;top&quot;:153.67456692913385,&quot;width&quot;:630}"/>
</p:tagLst>
</file>

<file path=ppt/tags/tag110.xml><?xml version="1.0" encoding="utf-8"?>
<p:tagLst xmlns:p="http://schemas.openxmlformats.org/presentationml/2006/main">
  <p:tag name="KSO_WM_DIAGRAM_VIRTUALLY_FRAME" val="{&quot;height&quot;:122.62503937007871,&quot;left&quot;:45,&quot;top&quot;:153.67456692913385,&quot;width&quot;:630}"/>
</p:tagLst>
</file>

<file path=ppt/tags/tag111.xml><?xml version="1.0" encoding="utf-8"?>
<p:tagLst xmlns:p="http://schemas.openxmlformats.org/presentationml/2006/main">
  <p:tag name="KSO_WM_DIAGRAM_VIRTUALLY_FRAME" val="{&quot;height&quot;:122.62503937007871,&quot;left&quot;:45,&quot;top&quot;:153.67456692913385,&quot;width&quot;:630}"/>
</p:tagLst>
</file>

<file path=ppt/tags/tag112.xml><?xml version="1.0" encoding="utf-8"?>
<p:tagLst xmlns:p="http://schemas.openxmlformats.org/presentationml/2006/main">
  <p:tag name="KSO_WM_DIAGRAM_VIRTUALLY_FRAME" val="{&quot;height&quot;:122.62503937007871,&quot;left&quot;:45,&quot;top&quot;:153.67456692913385,&quot;width&quot;:63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6097</Words>
  <Application>WPS 演示</Application>
  <PresentationFormat>On-screen Show (16:9)</PresentationFormat>
  <Paragraphs>618</Paragraphs>
  <Slides>18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雨泽龙啸</cp:lastModifiedBy>
  <cp:revision>5</cp:revision>
  <dcterms:created xsi:type="dcterms:W3CDTF">2026-04-05T14:14:00Z</dcterms:created>
  <dcterms:modified xsi:type="dcterms:W3CDTF">2026-04-06T15:32:21Z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93E9A231E141479EBCC8BD106DE3DA20_12</vt:lpwstr>
  </property>
</Properties>
</file>